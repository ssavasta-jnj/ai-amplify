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10/16/2026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framing the report as a coordinated risk-management discussion. The source materials identify three priority component issues with potential implications for production continuity, operational performance and regulatory readiness. Emphasize that all three are currently classified as medium risk, but proximity to production needs and limited contingency coverage warrant active leadership attention.
[Sources]
Supply Chain Issues Review Document.docx
Supply Chain Issue Analysis Report.docx
Visual on this slide was generated with Microsoft Copilot.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three issues without overstating severity. The source analysis classifies all three as medium risk. BIND567 is primarily a delivery and contingency concern; COMP042 is a lead-time variability and planning concern; COMP043 is a forecasting, inventory and communication concern. The common response is stronger ownership, monitoring and documented risk treatment.
[Sources]
Supply Chain Issues Review Document.docx
Supply Chain Issue Analysis Report.docx</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audience through the difference between common risk and component-specific risk. The timelines listed in the populated analysis data are 10 days for BIND567, 13 days for COMP042 and 8 days for COMP043. Also note the data-quality limitation: the same report contains a later incomplete template section. The deck therefore uses the populated records together with the completed review document.
[Sources]
Supply Chain Issues Review Document.docx
Supply Chain Issue Analysis Report.docx</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issue, what the current analysis shows, and the actions required. Avoid representing the medium risk rating as low urgency. The operational significance depends on proximity to production requirements, available inventory and contingency options. Confirm accountable owners and evidence of completion for each action.
[Sources]
Supply Chain Issues Review Document.docx
Supply Chain Issue Analysis Report.docx
Visual on this slide was generated with Microsoft Copilot.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issue, what the current analysis shows, and the actions required. Avoid representing the medium risk rating as low urgency. The operational significance depends on proximity to production requirements, available inventory and contingency options. Confirm accountable owners and evidence of completion for each action.
[Sources]
Supply Chain Issues Review Document.docx
Supply Chain Issue Analysis Report.docx
Visual on this slide was generated with Microsoft Copilot.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issue, what the current analysis shows, and the actions required. Avoid representing the medium risk rating as low urgency. The operational significance depends on proximity to production requirements, available inventory and contingency options. Confirm accountable owners and evidence of completion for each action.
[Sources]
Supply Chain Issues Review Document.docx
Supply Chain Issue Analysis Report.docx
Visual on this slide was generated with Microsoft Copilot.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translates the source recommendation into a governance sequence. The documents call for documented quality and compliance assessments and, where required, investigation, CAPA, change controls or supply-contingency action through the appropriate governance processes. The sequence shown is a presentation structure, not a replacement for formal procedures.
[Sources]
Supply Chain Issues Review Document.docx
Supply Chain Issue Analysis Report.docx</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action ownership and cadence. The source report proposes immediate, short-term and long-term actions, plus daily updates, weekly summaries and monthly performance reviews. The listed KPI targets are 95% on-time delivery, defect rate below 2%, and expedited shipping cost below 10% of total procurement cost. Confirm that the organization adopts or adjusts these targets through the appropriate governance process.
[Sources]
Supply Chain Issues Review Document.docx
Supply Chain Issue Analysis Report.docx</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C8102E"/>
          </a:solidFill>
          <a:ln w="12700">
            <a:solidFill>
              <a:srgbClr val="C8102E"/>
            </a:solidFill>
            <a:prstDash val="solid"/>
          </a:ln>
        </p:spPr>
      </p:sp>
      <p:sp>
        <p:nvSpPr>
          <p:cNvPr id="3" name="Text 1"/>
          <p:cNvSpPr/>
          <p:nvPr/>
        </p:nvSpPr>
        <p:spPr>
          <a:xfrm>
            <a:off x="502920" y="256032"/>
            <a:ext cx="6766560" cy="228600"/>
          </a:xfrm>
          <a:prstGeom prst="rect">
            <a:avLst/>
          </a:prstGeom>
          <a:noFill/>
          <a:ln/>
        </p:spPr>
        <p:txBody>
          <a:bodyPr wrap="square" lIns="0" tIns="0" rIns="0" bIns="0" rtlCol="0" anchor="ctr"/>
          <a:lstStyle/>
          <a:p>
            <a:pPr marL="0" indent="0">
              <a:buNone/>
            </a:pPr>
            <a:r>
              <a:rPr lang="en-US" sz="900" b="1" kern="0" spc="120" dirty="0">
                <a:solidFill>
                  <a:srgbClr val="5B6573"/>
                </a:solidFill>
                <a:latin typeface="Aptos" pitchFamily="34" charset="0"/>
                <a:ea typeface="Aptos" pitchFamily="34" charset="-122"/>
                <a:cs typeface="Aptos" pitchFamily="34" charset="-120"/>
              </a:rPr>
              <a:t>SUPPLY CHAIN ISSUE COMPLIANCE REPORT</a:t>
            </a:r>
            <a:endParaRPr lang="en-US" sz="900" dirty="0"/>
          </a:p>
        </p:txBody>
      </p:sp>
      <p:sp>
        <p:nvSpPr>
          <p:cNvPr id="4" name="Text 2"/>
          <p:cNvSpPr/>
          <p:nvPr/>
        </p:nvSpPr>
        <p:spPr>
          <a:xfrm>
            <a:off x="9509760" y="256032"/>
            <a:ext cx="2148840" cy="228600"/>
          </a:xfrm>
          <a:prstGeom prst="rect">
            <a:avLst/>
          </a:prstGeom>
          <a:noFill/>
          <a:ln/>
        </p:spPr>
        <p:txBody>
          <a:bodyPr wrap="square" lIns="0" tIns="0" rIns="0" bIns="0" rtlCol="0" anchor="ctr"/>
          <a:lstStyle/>
          <a:p>
            <a:pPr marL="0" indent="0" algn="r">
              <a:buNone/>
            </a:pPr>
            <a:r>
              <a:rPr lang="en-US" sz="800" dirty="0">
                <a:solidFill>
                  <a:srgbClr val="8893A2"/>
                </a:solidFill>
                <a:latin typeface="Aptos" pitchFamily="34" charset="0"/>
                <a:ea typeface="Aptos" pitchFamily="34" charset="-122"/>
                <a:cs typeface="Aptos" pitchFamily="34" charset="-120"/>
              </a:rPr>
              <a:t>CONFIDENTIAL • WORKING DRAFT</a:t>
            </a:r>
            <a:endParaRPr lang="en-US" sz="800" dirty="0"/>
          </a:p>
        </p:txBody>
      </p:sp>
      <p:sp>
        <p:nvSpPr>
          <p:cNvPr id="5" name="Shape 3"/>
          <p:cNvSpPr/>
          <p:nvPr/>
        </p:nvSpPr>
        <p:spPr>
          <a:xfrm>
            <a:off x="502920" y="6510528"/>
            <a:ext cx="11155680" cy="0"/>
          </a:xfrm>
          <a:prstGeom prst="line">
            <a:avLst/>
          </a:prstGeom>
          <a:noFill/>
          <a:ln w="12700">
            <a:solidFill>
              <a:srgbClr val="D9DEE6"/>
            </a:solidFill>
            <a:prstDash val="solid"/>
          </a:ln>
        </p:spPr>
      </p:sp>
      <p:sp>
        <p:nvSpPr>
          <p:cNvPr id="6" name="Text 4"/>
          <p:cNvSpPr/>
          <p:nvPr/>
        </p:nvSpPr>
        <p:spPr>
          <a:xfrm>
            <a:off x="502920" y="6565392"/>
            <a:ext cx="9601200" cy="137160"/>
          </a:xfrm>
          <a:prstGeom prst="rect">
            <a:avLst/>
          </a:prstGeom>
          <a:noFill/>
          <a:ln/>
        </p:spPr>
        <p:txBody>
          <a:bodyPr wrap="square" lIns="0" tIns="0" rIns="0" bIns="0" rtlCol="0" anchor="ctr"/>
          <a:lstStyle/>
          <a:p>
            <a:pPr marL="0" indent="0">
              <a:buNone/>
            </a:pPr>
            <a:r>
              <a:rPr lang="en-US" sz="700" dirty="0">
                <a:solidFill>
                  <a:srgbClr val="7B8491"/>
                </a:solidFill>
                <a:latin typeface="Aptos" pitchFamily="34" charset="0"/>
                <a:ea typeface="Aptos" pitchFamily="34" charset="-122"/>
                <a:cs typeface="Aptos" pitchFamily="34" charset="-120"/>
              </a:rPr>
              <a:t>Source: Supply Chain Issues Review Document; Supply Chain Issue Analysis Report</a:t>
            </a:r>
            <a:endParaRPr lang="en-US" sz="700" dirty="0"/>
          </a:p>
        </p:txBody>
      </p:sp>
      <p:sp>
        <p:nvSpPr>
          <p:cNvPr id="25" name="Slide Number Placeholder 0"/>
          <p:cNvSpPr>
            <a:spLocks noGrp="1"/>
          </p:cNvSpPr>
          <p:nvPr>
            <p:ph type="sldNum" sz="quarter" idx="4294967295"/>
          </p:nvPr>
        </p:nvSpPr>
        <p:spPr>
          <a:xfrm>
            <a:off x="11109960" y="6547104"/>
            <a:ext cx="502920" cy="146304"/>
          </a:xfrm>
          <a:prstGeom prst="rect">
            <a:avLst/>
          </a:prstGeom>
          <a:extLst>
            <a:ext uri="{C572A759-6A51-4108-AA02-DFA0A04FC94B}">
              <ma14:wrappingTextBoxFlag xmlns:ma14="http://schemas.microsoft.com/office/mac/drawingml/2011/main" xmlns="" val="0"/>
            </a:ext>
          </a:extLst>
        </p:spPr>
        <p:txBody>
          <a:bodyPr/>
          <a:lstStyle>
            <a:lvl1pPr>
              <a:defRPr sz="800">
                <a:solidFill>
                  <a:srgbClr val="7B8491"/>
                </a:solidFill>
                <a:latin typeface="Aptos"/>
                <a:ea typeface="Aptos"/>
                <a:cs typeface="Aptos"/>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547104"/>
            <a:ext cx="502920" cy="146304"/>
          </a:xfrm>
          <a:prstGeom prst="rect">
            <a:avLst/>
          </a:prstGeom>
          <a:extLst>
            <a:ext uri="{C572A759-6A51-4108-AA02-DFA0A04FC94B}">
              <ma14:wrappingTextBoxFlag xmlns:ma14="http://schemas.microsoft.com/office/mac/drawingml/2011/main" xmlns="" val="0"/>
            </a:ext>
          </a:extLst>
        </p:spPr>
        <p:txBody>
          <a:bodyPr/>
          <a:lstStyle>
            <a:lvl1pPr>
              <a:defRPr sz="800">
                <a:solidFill>
                  <a:srgbClr val="7B8491"/>
                </a:solidFill>
                <a:latin typeface="Aptos"/>
                <a:ea typeface="Aptos"/>
                <a:cs typeface="Aptos"/>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a:effectLst/>
      </p:bgPr>
    </p:bg>
    <p:spTree>
      <p:nvGrpSpPr>
        <p:cNvPr id="1" name=""/>
        <p:cNvGrpSpPr/>
        <p:nvPr/>
      </p:nvGrpSpPr>
      <p:grpSpPr>
        <a:xfrm>
          <a:off x="0" y="0"/>
          <a:ext cx="1" cy="1"/>
          <a:chOff x="0" y="0"/>
          <a:chExt cx="1" cy="1"/>
        </a:xfrm>
      </p:grpSpPr>
      <p:pic>
        <p:nvPicPr>
          <p:cNvPr id="2" name="Image 0" descr="/mnt/data/dd56478283.png"/>
          <p:cNvPicPr>
            <a:picLocks noChangeAspect="1"/>
          </p:cNvPicPr>
          <p:nvPr/>
        </p:nvPicPr>
        <p:blipFill>
          <a:blip r:embed="rId3">
            <a:alphaModFix amt="92000"/>
          </a:blip>
          <a:stretch>
            <a:fillRect/>
          </a:stretch>
        </p:blipFill>
        <p:spPr>
          <a:xfrm>
            <a:off x="5303520" y="0"/>
            <a:ext cx="6885432" cy="6858000"/>
          </a:xfrm>
          <a:prstGeom prst="rect">
            <a:avLst/>
          </a:prstGeom>
        </p:spPr>
      </p:pic>
      <p:sp>
        <p:nvSpPr>
          <p:cNvPr id="3" name="Shape 0"/>
          <p:cNvSpPr/>
          <p:nvPr/>
        </p:nvSpPr>
        <p:spPr>
          <a:xfrm>
            <a:off x="0" y="0"/>
            <a:ext cx="6583680" cy="6858000"/>
          </a:xfrm>
          <a:prstGeom prst="rect">
            <a:avLst/>
          </a:prstGeom>
          <a:solidFill>
            <a:srgbClr val="0B1F3A">
              <a:alpha val="98000"/>
            </a:srgbClr>
          </a:solidFill>
          <a:ln w="12700">
            <a:solidFill>
              <a:srgbClr val="0B1F3A">
                <a:alpha val="0"/>
              </a:srgbClr>
            </a:solidFill>
            <a:prstDash val="solid"/>
          </a:ln>
        </p:spPr>
        <p:txBody>
          <a:bodyPr/>
          <a:lstStyle/>
          <a:p>
            <a:endParaRPr lang="en-US"/>
          </a:p>
        </p:txBody>
      </p:sp>
      <p:sp>
        <p:nvSpPr>
          <p:cNvPr id="4" name="Shape 1"/>
          <p:cNvSpPr/>
          <p:nvPr/>
        </p:nvSpPr>
        <p:spPr>
          <a:xfrm>
            <a:off x="566928" y="960120"/>
            <a:ext cx="118872" cy="4480560"/>
          </a:xfrm>
          <a:prstGeom prst="rect">
            <a:avLst/>
          </a:prstGeom>
          <a:solidFill>
            <a:srgbClr val="C8102E"/>
          </a:solidFill>
          <a:ln w="12700">
            <a:solidFill>
              <a:srgbClr val="C8102E"/>
            </a:solidFill>
            <a:prstDash val="solid"/>
          </a:ln>
        </p:spPr>
        <p:txBody>
          <a:bodyPr/>
          <a:lstStyle/>
          <a:p>
            <a:endParaRPr lang="en-US"/>
          </a:p>
        </p:txBody>
      </p:sp>
      <p:sp>
        <p:nvSpPr>
          <p:cNvPr id="5" name="Text 2"/>
          <p:cNvSpPr/>
          <p:nvPr/>
        </p:nvSpPr>
        <p:spPr>
          <a:xfrm>
            <a:off x="960120" y="1143000"/>
            <a:ext cx="4983480" cy="1417320"/>
          </a:xfrm>
          <a:prstGeom prst="rect">
            <a:avLst/>
          </a:prstGeom>
          <a:noFill/>
          <a:ln/>
        </p:spPr>
        <p:txBody>
          <a:bodyPr wrap="square" lIns="0" tIns="0" rIns="0" bIns="0" rtlCol="0" anchor="ctr">
            <a:normAutofit/>
          </a:bodyPr>
          <a:lstStyle/>
          <a:p>
            <a:pPr marL="0" indent="0">
              <a:buNone/>
            </a:pPr>
            <a:r>
              <a:rPr lang="en-US" sz="3600" b="1" dirty="0">
                <a:solidFill>
                  <a:srgbClr val="FFFFFF"/>
                </a:solidFill>
              </a:rPr>
              <a:t>Supply Chain Issue</a:t>
            </a:r>
            <a:endParaRPr lang="en-US" sz="3600" dirty="0"/>
          </a:p>
          <a:p>
            <a:pPr marL="0" indent="0">
              <a:buNone/>
            </a:pPr>
            <a:r>
              <a:rPr lang="en-US" sz="3600" b="1" dirty="0">
                <a:solidFill>
                  <a:srgbClr val="FFFFFF"/>
                </a:solidFill>
              </a:rPr>
              <a:t>Compliance Report</a:t>
            </a:r>
            <a:endParaRPr lang="en-US" sz="3600" dirty="0"/>
          </a:p>
        </p:txBody>
      </p:sp>
      <p:sp>
        <p:nvSpPr>
          <p:cNvPr id="6" name="Text 3"/>
          <p:cNvSpPr/>
          <p:nvPr/>
        </p:nvSpPr>
        <p:spPr>
          <a:xfrm>
            <a:off x="987552" y="2788920"/>
            <a:ext cx="4526280" cy="822960"/>
          </a:xfrm>
          <a:prstGeom prst="rect">
            <a:avLst/>
          </a:prstGeom>
          <a:noFill/>
          <a:ln/>
        </p:spPr>
        <p:txBody>
          <a:bodyPr wrap="square" lIns="0" tIns="0" rIns="0" bIns="0" rtlCol="0" anchor="ctr">
            <a:normAutofit/>
          </a:bodyPr>
          <a:lstStyle/>
          <a:p>
            <a:pPr marL="0" indent="0">
              <a:buNone/>
            </a:pPr>
            <a:r>
              <a:rPr lang="en-US" sz="1800" dirty="0">
                <a:solidFill>
                  <a:srgbClr val="D9E5F2"/>
                </a:solidFill>
              </a:rPr>
              <a:t>Priority supplier risks, operational implications and coordinated mitigation actions</a:t>
            </a:r>
            <a:endParaRPr lang="en-US" sz="1800" dirty="0"/>
          </a:p>
        </p:txBody>
      </p:sp>
      <p:sp>
        <p:nvSpPr>
          <p:cNvPr id="7" name="Shape 4"/>
          <p:cNvSpPr/>
          <p:nvPr/>
        </p:nvSpPr>
        <p:spPr>
          <a:xfrm>
            <a:off x="987552" y="3886200"/>
            <a:ext cx="1508760" cy="310896"/>
          </a:xfrm>
          <a:prstGeom prst="roundRect">
            <a:avLst>
              <a:gd name="adj" fmla="val 23529"/>
            </a:avLst>
          </a:prstGeom>
          <a:solidFill>
            <a:srgbClr val="C8102E"/>
          </a:solidFill>
          <a:ln w="12700">
            <a:solidFill>
              <a:srgbClr val="C8102E"/>
            </a:solidFill>
            <a:prstDash val="solid"/>
          </a:ln>
        </p:spPr>
        <p:txBody>
          <a:bodyPr/>
          <a:lstStyle/>
          <a:p>
            <a:endParaRPr lang="en-US"/>
          </a:p>
        </p:txBody>
      </p:sp>
      <p:sp>
        <p:nvSpPr>
          <p:cNvPr id="8" name="Text 5"/>
          <p:cNvSpPr/>
          <p:nvPr/>
        </p:nvSpPr>
        <p:spPr>
          <a:xfrm>
            <a:off x="1060704" y="3941064"/>
            <a:ext cx="1362456" cy="182880"/>
          </a:xfrm>
          <a:prstGeom prst="rect">
            <a:avLst/>
          </a:prstGeom>
          <a:noFill/>
          <a:ln/>
        </p:spPr>
        <p:txBody>
          <a:bodyPr wrap="square" lIns="0" tIns="0" rIns="0" bIns="0" rtlCol="0" anchor="ctr"/>
          <a:lstStyle/>
          <a:p>
            <a:pPr marL="0" indent="0" algn="ctr">
              <a:buNone/>
            </a:pPr>
            <a:r>
              <a:rPr lang="en-US" sz="900" b="1" dirty="0">
                <a:solidFill>
                  <a:srgbClr val="FFFFFF"/>
                </a:solidFill>
              </a:rPr>
              <a:t>3 COMPONENTS</a:t>
            </a:r>
            <a:endParaRPr lang="en-US" sz="900" dirty="0"/>
          </a:p>
        </p:txBody>
      </p:sp>
      <p:sp>
        <p:nvSpPr>
          <p:cNvPr id="9" name="Shape 6"/>
          <p:cNvSpPr/>
          <p:nvPr/>
        </p:nvSpPr>
        <p:spPr>
          <a:xfrm>
            <a:off x="2651760" y="3886200"/>
            <a:ext cx="1417320" cy="310896"/>
          </a:xfrm>
          <a:prstGeom prst="roundRect">
            <a:avLst>
              <a:gd name="adj" fmla="val 23529"/>
            </a:avLst>
          </a:prstGeom>
          <a:solidFill>
            <a:srgbClr val="E59E2F"/>
          </a:solidFill>
          <a:ln w="12700">
            <a:solidFill>
              <a:srgbClr val="E59E2F"/>
            </a:solidFill>
            <a:prstDash val="solid"/>
          </a:ln>
        </p:spPr>
        <p:txBody>
          <a:bodyPr/>
          <a:lstStyle/>
          <a:p>
            <a:endParaRPr lang="en-US"/>
          </a:p>
        </p:txBody>
      </p:sp>
      <p:sp>
        <p:nvSpPr>
          <p:cNvPr id="10" name="Text 7"/>
          <p:cNvSpPr/>
          <p:nvPr/>
        </p:nvSpPr>
        <p:spPr>
          <a:xfrm>
            <a:off x="2724912" y="3941064"/>
            <a:ext cx="1271016" cy="182880"/>
          </a:xfrm>
          <a:prstGeom prst="rect">
            <a:avLst/>
          </a:prstGeom>
          <a:noFill/>
          <a:ln/>
        </p:spPr>
        <p:txBody>
          <a:bodyPr wrap="square" lIns="0" tIns="0" rIns="0" bIns="0" rtlCol="0" anchor="ctr"/>
          <a:lstStyle/>
          <a:p>
            <a:pPr marL="0" indent="0" algn="ctr">
              <a:buNone/>
            </a:pPr>
            <a:r>
              <a:rPr lang="en-US" sz="900" b="1" dirty="0">
                <a:solidFill>
                  <a:srgbClr val="FFFFFF"/>
                </a:solidFill>
              </a:rPr>
              <a:t>MEDIUM RISK</a:t>
            </a:r>
            <a:endParaRPr lang="en-US" sz="900" dirty="0"/>
          </a:p>
        </p:txBody>
      </p:sp>
      <p:sp>
        <p:nvSpPr>
          <p:cNvPr id="11" name="Shape 8"/>
          <p:cNvSpPr/>
          <p:nvPr/>
        </p:nvSpPr>
        <p:spPr>
          <a:xfrm>
            <a:off x="4224528" y="3886200"/>
            <a:ext cx="1143000" cy="310896"/>
          </a:xfrm>
          <a:prstGeom prst="roundRect">
            <a:avLst>
              <a:gd name="adj" fmla="val 23529"/>
            </a:avLst>
          </a:prstGeom>
          <a:solidFill>
            <a:srgbClr val="007C83"/>
          </a:solidFill>
          <a:ln w="12700">
            <a:solidFill>
              <a:srgbClr val="007C83"/>
            </a:solidFill>
            <a:prstDash val="solid"/>
          </a:ln>
        </p:spPr>
        <p:txBody>
          <a:bodyPr/>
          <a:lstStyle/>
          <a:p>
            <a:endParaRPr lang="en-US"/>
          </a:p>
        </p:txBody>
      </p:sp>
      <p:sp>
        <p:nvSpPr>
          <p:cNvPr id="12" name="Text 9"/>
          <p:cNvSpPr/>
          <p:nvPr/>
        </p:nvSpPr>
        <p:spPr>
          <a:xfrm>
            <a:off x="4297680" y="3941064"/>
            <a:ext cx="996696" cy="182880"/>
          </a:xfrm>
          <a:prstGeom prst="rect">
            <a:avLst/>
          </a:prstGeom>
          <a:noFill/>
          <a:ln/>
        </p:spPr>
        <p:txBody>
          <a:bodyPr wrap="square" lIns="0" tIns="0" rIns="0" bIns="0" rtlCol="0" anchor="ctr"/>
          <a:lstStyle/>
          <a:p>
            <a:pPr marL="0" indent="0" algn="ctr">
              <a:buNone/>
            </a:pPr>
            <a:r>
              <a:rPr lang="en-US" sz="900" b="1" dirty="0">
                <a:solidFill>
                  <a:srgbClr val="FFFFFF"/>
                </a:solidFill>
              </a:rPr>
              <a:t>ACTION NOW</a:t>
            </a:r>
            <a:endParaRPr lang="en-US" sz="900" dirty="0"/>
          </a:p>
        </p:txBody>
      </p:sp>
      <p:sp>
        <p:nvSpPr>
          <p:cNvPr id="13" name="Text 10"/>
          <p:cNvSpPr/>
          <p:nvPr/>
        </p:nvSpPr>
        <p:spPr>
          <a:xfrm>
            <a:off x="987552" y="4736592"/>
            <a:ext cx="4206240" cy="274320"/>
          </a:xfrm>
          <a:prstGeom prst="rect">
            <a:avLst/>
          </a:prstGeom>
          <a:noFill/>
          <a:ln/>
        </p:spPr>
        <p:txBody>
          <a:bodyPr wrap="square" lIns="0" tIns="0" rIns="0" bIns="0" rtlCol="0" anchor="ctr"/>
          <a:lstStyle/>
          <a:p>
            <a:pPr marL="0" indent="0">
              <a:buNone/>
            </a:pPr>
            <a:r>
              <a:rPr lang="en-US" sz="1200" dirty="0">
                <a:solidFill>
                  <a:srgbClr val="AFC3D8"/>
                </a:solidFill>
              </a:rPr>
              <a:t>Prepared for cross-functional review</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1" cy="1"/>
          <a:chOff x="0" y="0"/>
          <a:chExt cx="1" cy="1"/>
        </a:xfrm>
      </p:grpSpPr>
      <p:sp>
        <p:nvSpPr>
          <p:cNvPr id="2" name="Text 0"/>
          <p:cNvSpPr/>
          <p:nvPr/>
        </p:nvSpPr>
        <p:spPr>
          <a:xfrm>
            <a:off x="530352" y="566928"/>
            <a:ext cx="8138160" cy="457200"/>
          </a:xfrm>
          <a:prstGeom prst="rect">
            <a:avLst/>
          </a:prstGeom>
          <a:noFill/>
          <a:ln/>
        </p:spPr>
        <p:txBody>
          <a:bodyPr wrap="square" lIns="0" tIns="0" rIns="0" bIns="0" rtlCol="0" anchor="ctr"/>
          <a:lstStyle/>
          <a:p>
            <a:pPr marL="0" indent="0">
              <a:buNone/>
            </a:pPr>
            <a:r>
              <a:rPr lang="en-US" sz="2800" b="1" dirty="0">
                <a:solidFill>
                  <a:srgbClr val="0B1F3A"/>
                </a:solidFill>
              </a:rPr>
              <a:t>Executive summary</a:t>
            </a:r>
            <a:endParaRPr lang="en-US" sz="2800" dirty="0"/>
          </a:p>
        </p:txBody>
      </p:sp>
      <p:sp>
        <p:nvSpPr>
          <p:cNvPr id="3" name="Text 1"/>
          <p:cNvSpPr/>
          <p:nvPr/>
        </p:nvSpPr>
        <p:spPr>
          <a:xfrm>
            <a:off x="548640" y="1033272"/>
            <a:ext cx="10789920" cy="292608"/>
          </a:xfrm>
          <a:prstGeom prst="rect">
            <a:avLst/>
          </a:prstGeom>
          <a:noFill/>
          <a:ln/>
        </p:spPr>
        <p:txBody>
          <a:bodyPr wrap="square" lIns="0" tIns="0" rIns="0" bIns="0" rtlCol="0" anchor="ctr"/>
          <a:lstStyle/>
          <a:p>
            <a:pPr marL="0" indent="0">
              <a:buNone/>
            </a:pPr>
            <a:r>
              <a:rPr lang="en-US" sz="1300" dirty="0">
                <a:solidFill>
                  <a:srgbClr val="5B6573"/>
                </a:solidFill>
              </a:rPr>
              <a:t>Three supplier issues require immediate stabilization and disciplined compliance follow-through.</a:t>
            </a:r>
            <a:endParaRPr lang="en-US" sz="1300" dirty="0"/>
          </a:p>
        </p:txBody>
      </p:sp>
      <p:sp>
        <p:nvSpPr>
          <p:cNvPr id="4" name="Shape 2"/>
          <p:cNvSpPr/>
          <p:nvPr/>
        </p:nvSpPr>
        <p:spPr>
          <a:xfrm>
            <a:off x="594360" y="1508760"/>
            <a:ext cx="3520440" cy="1874520"/>
          </a:xfrm>
          <a:prstGeom prst="roundRect">
            <a:avLst>
              <a:gd name="adj" fmla="val 3902"/>
            </a:avLst>
          </a:prstGeom>
          <a:solidFill>
            <a:srgbClr val="FFFFFF"/>
          </a:solidFill>
          <a:ln w="12700">
            <a:solidFill>
              <a:srgbClr val="DCE2EA"/>
            </a:solidFill>
            <a:prstDash val="solid"/>
          </a:ln>
        </p:spPr>
        <p:txBody>
          <a:bodyPr/>
          <a:lstStyle/>
          <a:p>
            <a:endParaRPr lang="en-US"/>
          </a:p>
        </p:txBody>
      </p:sp>
      <p:sp>
        <p:nvSpPr>
          <p:cNvPr id="5" name="Shape 3"/>
          <p:cNvSpPr/>
          <p:nvPr/>
        </p:nvSpPr>
        <p:spPr>
          <a:xfrm>
            <a:off x="594360" y="1508760"/>
            <a:ext cx="73152" cy="1874520"/>
          </a:xfrm>
          <a:prstGeom prst="rect">
            <a:avLst/>
          </a:prstGeom>
          <a:solidFill>
            <a:srgbClr val="C8102E"/>
          </a:solidFill>
          <a:ln w="12700">
            <a:solidFill>
              <a:srgbClr val="C8102E"/>
            </a:solidFill>
            <a:prstDash val="solid"/>
          </a:ln>
        </p:spPr>
        <p:txBody>
          <a:bodyPr/>
          <a:lstStyle/>
          <a:p>
            <a:endParaRPr lang="en-US"/>
          </a:p>
        </p:txBody>
      </p:sp>
      <p:sp>
        <p:nvSpPr>
          <p:cNvPr id="6" name="Text 4"/>
          <p:cNvSpPr/>
          <p:nvPr/>
        </p:nvSpPr>
        <p:spPr>
          <a:xfrm>
            <a:off x="813816" y="1673352"/>
            <a:ext cx="3108960" cy="292608"/>
          </a:xfrm>
          <a:prstGeom prst="rect">
            <a:avLst/>
          </a:prstGeom>
          <a:noFill/>
          <a:ln/>
        </p:spPr>
        <p:txBody>
          <a:bodyPr wrap="square" lIns="0" tIns="0" rIns="0" bIns="0" rtlCol="0" anchor="ctr"/>
          <a:lstStyle/>
          <a:p>
            <a:pPr marL="0" indent="0">
              <a:buNone/>
            </a:pPr>
            <a:r>
              <a:rPr lang="en-US" sz="1600" b="1" dirty="0">
                <a:solidFill>
                  <a:srgbClr val="0B1F3A"/>
                </a:solidFill>
              </a:rPr>
              <a:t>BIND567 • EcoSupply</a:t>
            </a:r>
            <a:endParaRPr lang="en-US" sz="1600" dirty="0"/>
          </a:p>
        </p:txBody>
      </p:sp>
      <p:sp>
        <p:nvSpPr>
          <p:cNvPr id="7" name="Text 5"/>
          <p:cNvSpPr/>
          <p:nvPr/>
        </p:nvSpPr>
        <p:spPr>
          <a:xfrm>
            <a:off x="813816" y="2075688"/>
            <a:ext cx="3108960" cy="1179576"/>
          </a:xfrm>
          <a:prstGeom prst="rect">
            <a:avLst/>
          </a:prstGeom>
          <a:noFill/>
          <a:ln/>
        </p:spPr>
        <p:txBody>
          <a:bodyPr wrap="square" lIns="254" tIns="254" rIns="254" bIns="254" rtlCol="0" anchor="ctr">
            <a:normAutofit/>
          </a:bodyPr>
          <a:lstStyle/>
          <a:p>
            <a:r>
              <a:rPr lang="en-US" sz="1150" dirty="0">
                <a:solidFill>
                  <a:srgbClr val="1D2733"/>
                </a:solidFill>
              </a:rPr>
              <a:t>Recurring delivery delays</a:t>
            </a:r>
            <a:endParaRPr lang="en-US" sz="1150" dirty="0"/>
          </a:p>
          <a:p>
            <a:r>
              <a:rPr lang="en-US" sz="1150" dirty="0">
                <a:solidFill>
                  <a:srgbClr val="1D2733"/>
                </a:solidFill>
              </a:rPr>
              <a:t>Receipt close to critical production deadlines</a:t>
            </a:r>
            <a:endParaRPr lang="en-US" sz="1150" dirty="0"/>
          </a:p>
          <a:p>
            <a:r>
              <a:rPr lang="en-US" sz="1150" dirty="0">
                <a:solidFill>
                  <a:srgbClr val="1D2733"/>
                </a:solidFill>
              </a:rPr>
              <a:t>Limited contingency coverage</a:t>
            </a:r>
            <a:endParaRPr lang="en-US" sz="1150" dirty="0"/>
          </a:p>
        </p:txBody>
      </p:sp>
      <p:sp>
        <p:nvSpPr>
          <p:cNvPr id="8" name="Shape 6"/>
          <p:cNvSpPr/>
          <p:nvPr/>
        </p:nvSpPr>
        <p:spPr>
          <a:xfrm>
            <a:off x="4315968" y="1508760"/>
            <a:ext cx="3520440" cy="1874520"/>
          </a:xfrm>
          <a:prstGeom prst="roundRect">
            <a:avLst>
              <a:gd name="adj" fmla="val 3902"/>
            </a:avLst>
          </a:prstGeom>
          <a:solidFill>
            <a:srgbClr val="FFFFFF"/>
          </a:solidFill>
          <a:ln w="12700">
            <a:solidFill>
              <a:srgbClr val="DCE2EA"/>
            </a:solidFill>
            <a:prstDash val="solid"/>
          </a:ln>
        </p:spPr>
        <p:txBody>
          <a:bodyPr/>
          <a:lstStyle/>
          <a:p>
            <a:endParaRPr lang="en-US"/>
          </a:p>
        </p:txBody>
      </p:sp>
      <p:sp>
        <p:nvSpPr>
          <p:cNvPr id="9" name="Shape 7"/>
          <p:cNvSpPr/>
          <p:nvPr/>
        </p:nvSpPr>
        <p:spPr>
          <a:xfrm>
            <a:off x="4315968" y="1508760"/>
            <a:ext cx="73152" cy="1874520"/>
          </a:xfrm>
          <a:prstGeom prst="rect">
            <a:avLst/>
          </a:prstGeom>
          <a:solidFill>
            <a:srgbClr val="E59E2F"/>
          </a:solidFill>
          <a:ln w="12700">
            <a:solidFill>
              <a:srgbClr val="E59E2F"/>
            </a:solidFill>
            <a:prstDash val="solid"/>
          </a:ln>
        </p:spPr>
        <p:txBody>
          <a:bodyPr/>
          <a:lstStyle/>
          <a:p>
            <a:endParaRPr lang="en-US"/>
          </a:p>
        </p:txBody>
      </p:sp>
      <p:sp>
        <p:nvSpPr>
          <p:cNvPr id="10" name="Text 8"/>
          <p:cNvSpPr/>
          <p:nvPr/>
        </p:nvSpPr>
        <p:spPr>
          <a:xfrm>
            <a:off x="4535424" y="1673352"/>
            <a:ext cx="3108960" cy="292608"/>
          </a:xfrm>
          <a:prstGeom prst="rect">
            <a:avLst/>
          </a:prstGeom>
          <a:noFill/>
          <a:ln/>
        </p:spPr>
        <p:txBody>
          <a:bodyPr wrap="square" lIns="0" tIns="0" rIns="0" bIns="0" rtlCol="0" anchor="ctr"/>
          <a:lstStyle/>
          <a:p>
            <a:pPr marL="0" indent="0">
              <a:buNone/>
            </a:pPr>
            <a:r>
              <a:rPr lang="en-US" sz="1600" b="1" dirty="0">
                <a:solidFill>
                  <a:srgbClr val="0B1F3A"/>
                </a:solidFill>
              </a:rPr>
              <a:t>COMP042 • PrimeLogistics</a:t>
            </a:r>
            <a:endParaRPr lang="en-US" sz="1600" dirty="0"/>
          </a:p>
        </p:txBody>
      </p:sp>
      <p:sp>
        <p:nvSpPr>
          <p:cNvPr id="11" name="Text 9"/>
          <p:cNvSpPr/>
          <p:nvPr/>
        </p:nvSpPr>
        <p:spPr>
          <a:xfrm>
            <a:off x="4535424" y="2075688"/>
            <a:ext cx="3108960" cy="1179576"/>
          </a:xfrm>
          <a:prstGeom prst="rect">
            <a:avLst/>
          </a:prstGeom>
          <a:noFill/>
          <a:ln/>
        </p:spPr>
        <p:txBody>
          <a:bodyPr wrap="square" lIns="254" tIns="254" rIns="254" bIns="254" rtlCol="0" anchor="ctr">
            <a:normAutofit/>
          </a:bodyPr>
          <a:lstStyle/>
          <a:p>
            <a:r>
              <a:rPr lang="en-US" sz="1150" dirty="0">
                <a:solidFill>
                  <a:srgbClr val="1D2733"/>
                </a:solidFill>
              </a:rPr>
              <a:t>13-day delivery timeline</a:t>
            </a:r>
            <a:endParaRPr lang="en-US" sz="1150" dirty="0"/>
          </a:p>
          <a:p>
            <a:r>
              <a:rPr lang="en-US" sz="1150" dirty="0">
                <a:solidFill>
                  <a:srgbClr val="1D2733"/>
                </a:solidFill>
              </a:rPr>
              <a:t>Lead-time variance up to 3 days</a:t>
            </a:r>
            <a:endParaRPr lang="en-US" sz="1150" dirty="0"/>
          </a:p>
          <a:p>
            <a:r>
              <a:rPr lang="en-US" sz="1150" dirty="0">
                <a:solidFill>
                  <a:srgbClr val="1D2733"/>
                </a:solidFill>
              </a:rPr>
              <a:t>Potential expedited freight and margin pressure</a:t>
            </a:r>
            <a:endParaRPr lang="en-US" sz="1150" dirty="0"/>
          </a:p>
        </p:txBody>
      </p:sp>
      <p:sp>
        <p:nvSpPr>
          <p:cNvPr id="12" name="Shape 10"/>
          <p:cNvSpPr/>
          <p:nvPr/>
        </p:nvSpPr>
        <p:spPr>
          <a:xfrm>
            <a:off x="8037576" y="1508760"/>
            <a:ext cx="3520440" cy="1874520"/>
          </a:xfrm>
          <a:prstGeom prst="roundRect">
            <a:avLst>
              <a:gd name="adj" fmla="val 3902"/>
            </a:avLst>
          </a:prstGeom>
          <a:solidFill>
            <a:srgbClr val="FFFFFF"/>
          </a:solidFill>
          <a:ln w="12700">
            <a:solidFill>
              <a:srgbClr val="DCE2EA"/>
            </a:solidFill>
            <a:prstDash val="solid"/>
          </a:ln>
        </p:spPr>
        <p:txBody>
          <a:bodyPr/>
          <a:lstStyle/>
          <a:p>
            <a:endParaRPr lang="en-US"/>
          </a:p>
        </p:txBody>
      </p:sp>
      <p:sp>
        <p:nvSpPr>
          <p:cNvPr id="13" name="Shape 11"/>
          <p:cNvSpPr/>
          <p:nvPr/>
        </p:nvSpPr>
        <p:spPr>
          <a:xfrm>
            <a:off x="8037576" y="1508760"/>
            <a:ext cx="73152" cy="1874520"/>
          </a:xfrm>
          <a:prstGeom prst="rect">
            <a:avLst/>
          </a:prstGeom>
          <a:solidFill>
            <a:srgbClr val="007C83"/>
          </a:solidFill>
          <a:ln w="12700">
            <a:solidFill>
              <a:srgbClr val="007C83"/>
            </a:solidFill>
            <a:prstDash val="solid"/>
          </a:ln>
        </p:spPr>
        <p:txBody>
          <a:bodyPr/>
          <a:lstStyle/>
          <a:p>
            <a:endParaRPr lang="en-US"/>
          </a:p>
        </p:txBody>
      </p:sp>
      <p:sp>
        <p:nvSpPr>
          <p:cNvPr id="14" name="Text 12"/>
          <p:cNvSpPr/>
          <p:nvPr/>
        </p:nvSpPr>
        <p:spPr>
          <a:xfrm>
            <a:off x="8257032" y="1673352"/>
            <a:ext cx="3108960" cy="292608"/>
          </a:xfrm>
          <a:prstGeom prst="rect">
            <a:avLst/>
          </a:prstGeom>
          <a:noFill/>
          <a:ln/>
        </p:spPr>
        <p:txBody>
          <a:bodyPr wrap="square" lIns="0" tIns="0" rIns="0" bIns="0" rtlCol="0" anchor="ctr"/>
          <a:lstStyle/>
          <a:p>
            <a:pPr marL="0" indent="0">
              <a:buNone/>
            </a:pPr>
            <a:r>
              <a:rPr lang="en-US" sz="1600" b="1" dirty="0">
                <a:solidFill>
                  <a:srgbClr val="0B1F3A"/>
                </a:solidFill>
              </a:rPr>
              <a:t>COMP043 • NextGen Pharma</a:t>
            </a:r>
            <a:endParaRPr lang="en-US" sz="1600" dirty="0"/>
          </a:p>
        </p:txBody>
      </p:sp>
      <p:sp>
        <p:nvSpPr>
          <p:cNvPr id="15" name="Text 13"/>
          <p:cNvSpPr/>
          <p:nvPr/>
        </p:nvSpPr>
        <p:spPr>
          <a:xfrm>
            <a:off x="8257032" y="2075688"/>
            <a:ext cx="3108960" cy="1179576"/>
          </a:xfrm>
          <a:prstGeom prst="rect">
            <a:avLst/>
          </a:prstGeom>
          <a:noFill/>
          <a:ln/>
        </p:spPr>
        <p:txBody>
          <a:bodyPr wrap="square" lIns="254" tIns="254" rIns="254" bIns="254" rtlCol="0" anchor="ctr">
            <a:normAutofit/>
          </a:bodyPr>
          <a:lstStyle/>
          <a:p>
            <a:r>
              <a:rPr lang="en-US" sz="1150" dirty="0">
                <a:solidFill>
                  <a:srgbClr val="1D2733"/>
                </a:solidFill>
              </a:rPr>
              <a:t>Forecasting inaccuracies</a:t>
            </a:r>
            <a:endParaRPr lang="en-US" sz="1150" dirty="0"/>
          </a:p>
          <a:p>
            <a:r>
              <a:rPr lang="en-US" sz="1150" dirty="0">
                <a:solidFill>
                  <a:srgbClr val="1D2733"/>
                </a:solidFill>
              </a:rPr>
              <a:t>Inventory-management gaps</a:t>
            </a:r>
            <a:endParaRPr lang="en-US" sz="1150" dirty="0"/>
          </a:p>
          <a:p>
            <a:r>
              <a:rPr lang="en-US" sz="1150" dirty="0">
                <a:solidFill>
                  <a:srgbClr val="1D2733"/>
                </a:solidFill>
              </a:rPr>
              <a:t>Supplier communication weaknesses</a:t>
            </a:r>
            <a:endParaRPr lang="en-US" sz="1150" dirty="0"/>
          </a:p>
        </p:txBody>
      </p:sp>
      <p:sp>
        <p:nvSpPr>
          <p:cNvPr id="16" name="Shape 14"/>
          <p:cNvSpPr/>
          <p:nvPr/>
        </p:nvSpPr>
        <p:spPr>
          <a:xfrm>
            <a:off x="594360" y="3767328"/>
            <a:ext cx="10963656" cy="1600200"/>
          </a:xfrm>
          <a:prstGeom prst="roundRect">
            <a:avLst/>
          </a:prstGeom>
          <a:solidFill>
            <a:srgbClr val="E8F3F4"/>
          </a:solidFill>
          <a:ln w="12700">
            <a:solidFill>
              <a:srgbClr val="A8D2D5"/>
            </a:solidFill>
            <a:prstDash val="solid"/>
          </a:ln>
        </p:spPr>
        <p:txBody>
          <a:bodyPr/>
          <a:lstStyle/>
          <a:p>
            <a:endParaRPr lang="en-US"/>
          </a:p>
        </p:txBody>
      </p:sp>
      <p:sp>
        <p:nvSpPr>
          <p:cNvPr id="17" name="Text 15"/>
          <p:cNvSpPr/>
          <p:nvPr/>
        </p:nvSpPr>
        <p:spPr>
          <a:xfrm>
            <a:off x="868680" y="4050792"/>
            <a:ext cx="2011680" cy="320040"/>
          </a:xfrm>
          <a:prstGeom prst="rect">
            <a:avLst/>
          </a:prstGeom>
          <a:noFill/>
          <a:ln/>
        </p:spPr>
        <p:txBody>
          <a:bodyPr wrap="square" lIns="0" tIns="0" rIns="0" bIns="0" rtlCol="0" anchor="ctr"/>
          <a:lstStyle/>
          <a:p>
            <a:pPr marL="0" indent="0">
              <a:buNone/>
            </a:pPr>
            <a:r>
              <a:rPr lang="en-US" sz="1700" b="1" dirty="0">
                <a:solidFill>
                  <a:srgbClr val="007C83"/>
                </a:solidFill>
              </a:rPr>
              <a:t>Leadership focus</a:t>
            </a:r>
            <a:endParaRPr lang="en-US" sz="1700" dirty="0"/>
          </a:p>
        </p:txBody>
      </p:sp>
      <p:sp>
        <p:nvSpPr>
          <p:cNvPr id="18" name="Text 16"/>
          <p:cNvSpPr/>
          <p:nvPr/>
        </p:nvSpPr>
        <p:spPr>
          <a:xfrm>
            <a:off x="2788920" y="3968496"/>
            <a:ext cx="8138160" cy="685800"/>
          </a:xfrm>
          <a:prstGeom prst="rect">
            <a:avLst/>
          </a:prstGeom>
          <a:noFill/>
          <a:ln/>
        </p:spPr>
        <p:txBody>
          <a:bodyPr wrap="square" lIns="0" tIns="0" rIns="0" bIns="0" rtlCol="0" anchor="ctr">
            <a:normAutofit/>
          </a:bodyPr>
          <a:lstStyle/>
          <a:p>
            <a:pPr marL="0" indent="0">
              <a:buNone/>
            </a:pPr>
            <a:r>
              <a:rPr lang="en-US" sz="1800" b="1" dirty="0">
                <a:solidFill>
                  <a:srgbClr val="0B1F3A"/>
                </a:solidFill>
              </a:rPr>
              <a:t>Stabilize supply now, validate quality and compliance impacts, establish clear accountable owners, and maintain recurring visibility until risk indicators demonstrate sustained control.</a:t>
            </a:r>
            <a:endParaRPr lang="en-US" sz="1800" dirty="0"/>
          </a:p>
        </p:txBody>
      </p:sp>
      <p:sp>
        <p:nvSpPr>
          <p:cNvPr id="19" name="Text 17"/>
          <p:cNvSpPr/>
          <p:nvPr/>
        </p:nvSpPr>
        <p:spPr>
          <a:xfrm>
            <a:off x="868680" y="4892040"/>
            <a:ext cx="1280160" cy="201168"/>
          </a:xfrm>
          <a:prstGeom prst="rect">
            <a:avLst/>
          </a:prstGeom>
          <a:noFill/>
          <a:ln/>
        </p:spPr>
        <p:txBody>
          <a:bodyPr wrap="square" lIns="0" tIns="0" rIns="0" bIns="0" rtlCol="0" anchor="ctr"/>
          <a:lstStyle/>
          <a:p>
            <a:pPr marL="0" indent="0">
              <a:buNone/>
            </a:pPr>
            <a:r>
              <a:rPr lang="en-US" sz="1000" b="1" dirty="0">
                <a:solidFill>
                  <a:srgbClr val="5B6573"/>
                </a:solidFill>
              </a:rPr>
              <a:t>Primary exposure</a:t>
            </a:r>
            <a:endParaRPr lang="en-US" sz="1000" dirty="0"/>
          </a:p>
        </p:txBody>
      </p:sp>
      <p:sp>
        <p:nvSpPr>
          <p:cNvPr id="20" name="Text 18"/>
          <p:cNvSpPr/>
          <p:nvPr/>
        </p:nvSpPr>
        <p:spPr>
          <a:xfrm>
            <a:off x="2011680" y="4855464"/>
            <a:ext cx="8046720" cy="274320"/>
          </a:xfrm>
          <a:prstGeom prst="rect">
            <a:avLst/>
          </a:prstGeom>
          <a:noFill/>
          <a:ln/>
        </p:spPr>
        <p:txBody>
          <a:bodyPr wrap="square" lIns="0" tIns="0" rIns="0" bIns="0" rtlCol="0" anchor="ctr"/>
          <a:lstStyle/>
          <a:p>
            <a:pPr marL="0" indent="0">
              <a:buNone/>
            </a:pPr>
            <a:r>
              <a:rPr lang="en-US" sz="1200" dirty="0">
                <a:solidFill>
                  <a:srgbClr val="1D2733"/>
                </a:solidFill>
              </a:rPr>
              <a:t>Material shortage • Production disruption • Cost escalation • Documentation and compliance risk</a:t>
            </a:r>
            <a:endParaRPr lang="en-US" sz="1200" dirty="0"/>
          </a:p>
        </p:txBody>
      </p:sp>
      <p:sp>
        <p:nvSpPr>
          <p:cNvPr id="25" name="Slide Number Placeholder 0"/>
          <p:cNvSpPr>
            <a:spLocks noGrp="1"/>
          </p:cNvSpPr>
          <p:nvPr>
            <p:ph type="sldNum" sz="quarter" idx="4294967295"/>
          </p:nvPr>
        </p:nvSpPr>
        <p:spPr>
          <a:xfrm>
            <a:off x="11109960" y="6547104"/>
            <a:ext cx="502920" cy="146304"/>
          </a:xfrm>
          <a:prstGeom prst="rect">
            <a:avLst/>
          </a:prstGeom>
          <a:extLst>
            <a:ext uri="{C572A759-6A51-4108-AA02-DFA0A04FC94B}">
              <ma14:wrappingTextBoxFlag xmlns:ma14="http://schemas.microsoft.com/office/mac/drawingml/2011/main" xmlns="" val="0"/>
            </a:ext>
          </a:extLst>
        </p:spPr>
        <p:txBody>
          <a:bodyPr/>
          <a:lstStyle>
            <a:lvl1pPr>
              <a:defRPr sz="800">
                <a:solidFill>
                  <a:srgbClr val="7B8491"/>
                </a:solidFill>
                <a:latin typeface="Aptos"/>
                <a:ea typeface="Aptos"/>
                <a:cs typeface="Aptos"/>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1" cy="1"/>
          <a:chOff x="0" y="0"/>
          <a:chExt cx="1" cy="1"/>
        </a:xfrm>
      </p:grpSpPr>
      <p:sp>
        <p:nvSpPr>
          <p:cNvPr id="2" name="Text 0"/>
          <p:cNvSpPr/>
          <p:nvPr/>
        </p:nvSpPr>
        <p:spPr>
          <a:xfrm>
            <a:off x="530352" y="566928"/>
            <a:ext cx="8138160" cy="457200"/>
          </a:xfrm>
          <a:prstGeom prst="rect">
            <a:avLst/>
          </a:prstGeom>
          <a:noFill/>
          <a:ln/>
        </p:spPr>
        <p:txBody>
          <a:bodyPr wrap="square" lIns="0" tIns="0" rIns="0" bIns="0" rtlCol="0" anchor="ctr"/>
          <a:lstStyle/>
          <a:p>
            <a:pPr marL="0" indent="0">
              <a:buNone/>
            </a:pPr>
            <a:r>
              <a:rPr lang="en-US" sz="2800" b="1" dirty="0">
                <a:solidFill>
                  <a:srgbClr val="0B1F3A"/>
                </a:solidFill>
              </a:rPr>
              <a:t>Risk portfolio snapshot</a:t>
            </a:r>
            <a:endParaRPr lang="en-US" sz="2800" dirty="0"/>
          </a:p>
        </p:txBody>
      </p:sp>
      <p:sp>
        <p:nvSpPr>
          <p:cNvPr id="3" name="Text 1"/>
          <p:cNvSpPr/>
          <p:nvPr/>
        </p:nvSpPr>
        <p:spPr>
          <a:xfrm>
            <a:off x="548640" y="1033272"/>
            <a:ext cx="10789920" cy="292608"/>
          </a:xfrm>
          <a:prstGeom prst="rect">
            <a:avLst/>
          </a:prstGeom>
          <a:noFill/>
          <a:ln/>
        </p:spPr>
        <p:txBody>
          <a:bodyPr wrap="square" lIns="0" tIns="0" rIns="0" bIns="0" rtlCol="0" anchor="ctr"/>
          <a:lstStyle/>
          <a:p>
            <a:pPr marL="0" indent="0">
              <a:buNone/>
            </a:pPr>
            <a:r>
              <a:rPr lang="en-US" sz="1300" dirty="0">
                <a:solidFill>
                  <a:srgbClr val="5B6573"/>
                </a:solidFill>
              </a:rPr>
              <a:t>All three components are rated medium risk, but the drivers and required interventions differ.</a:t>
            </a:r>
            <a:endParaRPr lang="en-US" sz="1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21792" y="1481328"/>
          <a:ext cx="7452360" cy="3246120"/>
        </p:xfrm>
        <a:graphic>
          <a:graphicData uri="http://schemas.openxmlformats.org/drawingml/2006/table">
            <a:tbl>
              <a:tblPr/>
              <a:tblGrid>
                <a:gridCol w="1490472">
                  <a:extLst>
                    <a:ext uri="{9D8B030D-6E8A-4147-A177-3AD203B41FA5}">
                      <a16:colId xmlns:a16="http://schemas.microsoft.com/office/drawing/2014/main" val="20000"/>
                    </a:ext>
                  </a:extLst>
                </a:gridCol>
                <a:gridCol w="1490472">
                  <a:extLst>
                    <a:ext uri="{9D8B030D-6E8A-4147-A177-3AD203B41FA5}">
                      <a16:colId xmlns:a16="http://schemas.microsoft.com/office/drawing/2014/main" val="20001"/>
                    </a:ext>
                  </a:extLst>
                </a:gridCol>
                <a:gridCol w="1490472">
                  <a:extLst>
                    <a:ext uri="{9D8B030D-6E8A-4147-A177-3AD203B41FA5}">
                      <a16:colId xmlns:a16="http://schemas.microsoft.com/office/drawing/2014/main" val="20002"/>
                    </a:ext>
                  </a:extLst>
                </a:gridCol>
                <a:gridCol w="1490472">
                  <a:extLst>
                    <a:ext uri="{9D8B030D-6E8A-4147-A177-3AD203B41FA5}">
                      <a16:colId xmlns:a16="http://schemas.microsoft.com/office/drawing/2014/main" val="20003"/>
                    </a:ext>
                  </a:extLst>
                </a:gridCol>
                <a:gridCol w="1490472">
                  <a:extLst>
                    <a:ext uri="{9D8B030D-6E8A-4147-A177-3AD203B41FA5}">
                      <a16:colId xmlns:a16="http://schemas.microsoft.com/office/drawing/2014/main" val="20004"/>
                    </a:ext>
                  </a:extLst>
                </a:gridCol>
              </a:tblGrid>
              <a:tr h="566928">
                <a:tc>
                  <a:txBody>
                    <a:bodyPr/>
                    <a:lstStyle/>
                    <a:p>
                      <a:pPr marL="0" indent="0" algn="l">
                        <a:buNone/>
                      </a:pPr>
                      <a:r>
                        <a:rPr lang="en-US" sz="1200" dirty="0">
                          <a:solidFill>
                            <a:srgbClr val="1D2733"/>
                          </a:solidFill>
                          <a:latin typeface="Aptos" pitchFamily="34" charset="0"/>
                          <a:ea typeface="Aptos" pitchFamily="34" charset="-122"/>
                          <a:cs typeface="Aptos" pitchFamily="34" charset="-120"/>
                        </a:rPr>
                        <a:t>Component</a:t>
                      </a:r>
                      <a:endParaRPr lang="en-US" sz="1200" dirty="0">
                        <a:latin typeface="Aptos" charset="0"/>
                        <a:ea typeface="Aptos" charset="0"/>
                        <a:cs typeface="Aptos" charset="0"/>
                      </a:endParaRPr>
                    </a:p>
                  </a:txBody>
                  <a:tcPr marL="109728" marR="109728" marT="109728" marB="109728"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D2733"/>
                          </a:solidFill>
                          <a:latin typeface="Aptos" pitchFamily="34" charset="0"/>
                          <a:ea typeface="Aptos" pitchFamily="34" charset="-122"/>
                          <a:cs typeface="Aptos" pitchFamily="34" charset="-120"/>
                        </a:rPr>
                        <a:t>Supplier</a:t>
                      </a:r>
                      <a:endParaRPr lang="en-US" sz="1200" dirty="0">
                        <a:latin typeface="Aptos" charset="0"/>
                        <a:ea typeface="Aptos" charset="0"/>
                        <a:cs typeface="Aptos" charset="0"/>
                      </a:endParaRPr>
                    </a:p>
                  </a:txBody>
                  <a:tcPr marL="109728" marR="109728" marT="109728" marB="109728"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D2733"/>
                          </a:solidFill>
                          <a:latin typeface="Aptos" pitchFamily="34" charset="0"/>
                          <a:ea typeface="Aptos" pitchFamily="34" charset="-122"/>
                          <a:cs typeface="Aptos" pitchFamily="34" charset="-120"/>
                        </a:rPr>
                        <a:t>Timeline</a:t>
                      </a:r>
                      <a:endParaRPr lang="en-US" sz="1200" dirty="0">
                        <a:latin typeface="Aptos" charset="0"/>
                        <a:ea typeface="Aptos" charset="0"/>
                        <a:cs typeface="Aptos" charset="0"/>
                      </a:endParaRPr>
                    </a:p>
                  </a:txBody>
                  <a:tcPr marL="109728" marR="109728" marT="109728" marB="109728"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D2733"/>
                          </a:solidFill>
                          <a:latin typeface="Aptos" pitchFamily="34" charset="0"/>
                          <a:ea typeface="Aptos" pitchFamily="34" charset="-122"/>
                          <a:cs typeface="Aptos" pitchFamily="34" charset="-120"/>
                        </a:rPr>
                        <a:t>Primary risk driver</a:t>
                      </a:r>
                      <a:endParaRPr lang="en-US" sz="1200" dirty="0">
                        <a:latin typeface="Aptos" charset="0"/>
                        <a:ea typeface="Aptos" charset="0"/>
                        <a:cs typeface="Aptos" charset="0"/>
                      </a:endParaRPr>
                    </a:p>
                  </a:txBody>
                  <a:tcPr marL="109728" marR="109728" marT="109728" marB="109728"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D2733"/>
                          </a:solidFill>
                          <a:latin typeface="Aptos" pitchFamily="34" charset="0"/>
                          <a:ea typeface="Aptos" pitchFamily="34" charset="-122"/>
                          <a:cs typeface="Aptos" pitchFamily="34" charset="-120"/>
                        </a:rPr>
                        <a:t>Immediate response</a:t>
                      </a:r>
                      <a:endParaRPr lang="en-US" sz="1200" dirty="0">
                        <a:latin typeface="Aptos" charset="0"/>
                        <a:ea typeface="Aptos" charset="0"/>
                        <a:cs typeface="Aptos" charset="0"/>
                      </a:endParaRPr>
                    </a:p>
                  </a:txBody>
                  <a:tcPr marL="109728" marR="109728" marT="109728" marB="109728"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566928">
                <a:tc>
                  <a:txBody>
                    <a:bodyPr/>
                    <a:lstStyle/>
                    <a:p>
                      <a:pPr marL="0" indent="0" algn="l">
                        <a:buNone/>
                      </a:pPr>
                      <a:r>
                        <a:rPr lang="en-US" sz="1200" dirty="0">
                          <a:solidFill>
                            <a:srgbClr val="1D2733"/>
                          </a:solidFill>
                          <a:latin typeface="Aptos" pitchFamily="34" charset="0"/>
                          <a:ea typeface="Aptos" pitchFamily="34" charset="-122"/>
                          <a:cs typeface="Aptos" pitchFamily="34" charset="-120"/>
                        </a:rPr>
                        <a:t>BIND567</a:t>
                      </a:r>
                      <a:endParaRPr lang="en-US" sz="1200" dirty="0">
                        <a:latin typeface="Aptos" charset="0"/>
                        <a:ea typeface="Aptos" charset="0"/>
                        <a:cs typeface="Aptos" charset="0"/>
                      </a:endParaRPr>
                    </a:p>
                  </a:txBody>
                  <a:tcPr marL="109728" marR="109728" marT="109728" marB="109728"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D2733"/>
                          </a:solidFill>
                          <a:latin typeface="Aptos" pitchFamily="34" charset="0"/>
                          <a:ea typeface="Aptos" pitchFamily="34" charset="-122"/>
                          <a:cs typeface="Aptos" pitchFamily="34" charset="-120"/>
                        </a:rPr>
                        <a:t>EcoSupply</a:t>
                      </a:r>
                      <a:endParaRPr lang="en-US" sz="1200" dirty="0">
                        <a:latin typeface="Aptos" charset="0"/>
                        <a:ea typeface="Aptos" charset="0"/>
                        <a:cs typeface="Aptos" charset="0"/>
                      </a:endParaRPr>
                    </a:p>
                  </a:txBody>
                  <a:tcPr marL="109728" marR="109728" marT="109728" marB="109728"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D2733"/>
                          </a:solidFill>
                          <a:latin typeface="Aptos" pitchFamily="34" charset="0"/>
                          <a:ea typeface="Aptos" pitchFamily="34" charset="-122"/>
                          <a:cs typeface="Aptos" pitchFamily="34" charset="-120"/>
                        </a:rPr>
                        <a:t>10 days</a:t>
                      </a:r>
                      <a:endParaRPr lang="en-US" sz="1200" dirty="0">
                        <a:latin typeface="Aptos" charset="0"/>
                        <a:ea typeface="Aptos" charset="0"/>
                        <a:cs typeface="Aptos" charset="0"/>
                      </a:endParaRPr>
                    </a:p>
                  </a:txBody>
                  <a:tcPr marL="109728" marR="109728" marT="109728" marB="109728"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D2733"/>
                          </a:solidFill>
                          <a:latin typeface="Aptos" pitchFamily="34" charset="0"/>
                          <a:ea typeface="Aptos" pitchFamily="34" charset="-122"/>
                          <a:cs typeface="Aptos" pitchFamily="34" charset="-120"/>
                        </a:rPr>
                        <a:t>Delivery reliability</a:t>
                      </a:r>
                      <a:endParaRPr lang="en-US" sz="1200" dirty="0">
                        <a:latin typeface="Aptos" charset="0"/>
                        <a:ea typeface="Aptos" charset="0"/>
                        <a:cs typeface="Aptos" charset="0"/>
                      </a:endParaRPr>
                    </a:p>
                  </a:txBody>
                  <a:tcPr marL="109728" marR="109728" marT="109728" marB="109728"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D2733"/>
                          </a:solidFill>
                          <a:latin typeface="Aptos" pitchFamily="34" charset="0"/>
                          <a:ea typeface="Aptos" pitchFamily="34" charset="-122"/>
                          <a:cs typeface="Aptos" pitchFamily="34" charset="-120"/>
                        </a:rPr>
                        <a:t>Expedite + buffer</a:t>
                      </a:r>
                      <a:endParaRPr lang="en-US" sz="1200" dirty="0">
                        <a:latin typeface="Aptos" charset="0"/>
                        <a:ea typeface="Aptos" charset="0"/>
                        <a:cs typeface="Aptos" charset="0"/>
                      </a:endParaRPr>
                    </a:p>
                  </a:txBody>
                  <a:tcPr marL="109728" marR="109728" marT="109728" marB="109728"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lgn="l">
                        <a:buNone/>
                      </a:pPr>
                      <a:r>
                        <a:rPr lang="en-US" sz="1200" dirty="0">
                          <a:solidFill>
                            <a:srgbClr val="1D2733"/>
                          </a:solidFill>
                          <a:latin typeface="Aptos" pitchFamily="34" charset="0"/>
                          <a:ea typeface="Aptos" pitchFamily="34" charset="-122"/>
                          <a:cs typeface="Aptos" pitchFamily="34" charset="-120"/>
                        </a:rPr>
                        <a:t>COMP042</a:t>
                      </a:r>
                      <a:endParaRPr lang="en-US" sz="1200" dirty="0">
                        <a:latin typeface="Aptos" charset="0"/>
                        <a:ea typeface="Aptos" charset="0"/>
                        <a:cs typeface="Aptos" charset="0"/>
                      </a:endParaRPr>
                    </a:p>
                  </a:txBody>
                  <a:tcPr marL="109728" marR="109728" marT="109728" marB="109728"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D2733"/>
                          </a:solidFill>
                          <a:latin typeface="Aptos" pitchFamily="34" charset="0"/>
                          <a:ea typeface="Aptos" pitchFamily="34" charset="-122"/>
                          <a:cs typeface="Aptos" pitchFamily="34" charset="-120"/>
                        </a:rPr>
                        <a:t>PrimeLogistics</a:t>
                      </a:r>
                      <a:endParaRPr lang="en-US" sz="1200" dirty="0">
                        <a:latin typeface="Aptos" charset="0"/>
                        <a:ea typeface="Aptos" charset="0"/>
                        <a:cs typeface="Aptos" charset="0"/>
                      </a:endParaRPr>
                    </a:p>
                  </a:txBody>
                  <a:tcPr marL="109728" marR="109728" marT="109728" marB="109728"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D2733"/>
                          </a:solidFill>
                          <a:latin typeface="Aptos" pitchFamily="34" charset="0"/>
                          <a:ea typeface="Aptos" pitchFamily="34" charset="-122"/>
                          <a:cs typeface="Aptos" pitchFamily="34" charset="-120"/>
                        </a:rPr>
                        <a:t>13 days</a:t>
                      </a:r>
                      <a:endParaRPr lang="en-US" sz="1200" dirty="0">
                        <a:latin typeface="Aptos" charset="0"/>
                        <a:ea typeface="Aptos" charset="0"/>
                        <a:cs typeface="Aptos" charset="0"/>
                      </a:endParaRPr>
                    </a:p>
                  </a:txBody>
                  <a:tcPr marL="109728" marR="109728" marT="109728" marB="109728"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D2733"/>
                          </a:solidFill>
                          <a:latin typeface="Aptos" pitchFamily="34" charset="0"/>
                          <a:ea typeface="Aptos" pitchFamily="34" charset="-122"/>
                          <a:cs typeface="Aptos" pitchFamily="34" charset="-120"/>
                        </a:rPr>
                        <a:t>Lead-time variability</a:t>
                      </a:r>
                      <a:endParaRPr lang="en-US" sz="1200" dirty="0">
                        <a:latin typeface="Aptos" charset="0"/>
                        <a:ea typeface="Aptos" charset="0"/>
                        <a:cs typeface="Aptos" charset="0"/>
                      </a:endParaRPr>
                    </a:p>
                  </a:txBody>
                  <a:tcPr marL="109728" marR="109728" marT="109728" marB="109728"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D2733"/>
                          </a:solidFill>
                          <a:latin typeface="Aptos" pitchFamily="34" charset="0"/>
                          <a:ea typeface="Aptos" pitchFamily="34" charset="-122"/>
                          <a:cs typeface="Aptos" pitchFamily="34" charset="-120"/>
                        </a:rPr>
                        <a:t>Demand planning</a:t>
                      </a:r>
                      <a:endParaRPr lang="en-US" sz="1200" dirty="0">
                        <a:latin typeface="Aptos" charset="0"/>
                        <a:ea typeface="Aptos" charset="0"/>
                        <a:cs typeface="Aptos" charset="0"/>
                      </a:endParaRPr>
                    </a:p>
                  </a:txBody>
                  <a:tcPr marL="109728" marR="109728" marT="109728" marB="109728"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lgn="l">
                        <a:buNone/>
                      </a:pPr>
                      <a:r>
                        <a:rPr lang="en-US" sz="1200" dirty="0">
                          <a:solidFill>
                            <a:srgbClr val="1D2733"/>
                          </a:solidFill>
                          <a:latin typeface="Aptos" pitchFamily="34" charset="0"/>
                          <a:ea typeface="Aptos" pitchFamily="34" charset="-122"/>
                          <a:cs typeface="Aptos" pitchFamily="34" charset="-120"/>
                        </a:rPr>
                        <a:t>COMP043</a:t>
                      </a:r>
                      <a:endParaRPr lang="en-US" sz="1200" dirty="0">
                        <a:latin typeface="Aptos" charset="0"/>
                        <a:ea typeface="Aptos" charset="0"/>
                        <a:cs typeface="Aptos" charset="0"/>
                      </a:endParaRPr>
                    </a:p>
                  </a:txBody>
                  <a:tcPr marL="109728" marR="109728" marT="109728" marB="109728"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D2733"/>
                          </a:solidFill>
                          <a:latin typeface="Aptos" pitchFamily="34" charset="0"/>
                          <a:ea typeface="Aptos" pitchFamily="34" charset="-122"/>
                          <a:cs typeface="Aptos" pitchFamily="34" charset="-120"/>
                        </a:rPr>
                        <a:t>NextGen Pharma</a:t>
                      </a:r>
                      <a:endParaRPr lang="en-US" sz="1200" dirty="0">
                        <a:latin typeface="Aptos" charset="0"/>
                        <a:ea typeface="Aptos" charset="0"/>
                        <a:cs typeface="Aptos" charset="0"/>
                      </a:endParaRPr>
                    </a:p>
                  </a:txBody>
                  <a:tcPr marL="109728" marR="109728" marT="109728" marB="109728"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D2733"/>
                          </a:solidFill>
                          <a:latin typeface="Aptos" pitchFamily="34" charset="0"/>
                          <a:ea typeface="Aptos" pitchFamily="34" charset="-122"/>
                          <a:cs typeface="Aptos" pitchFamily="34" charset="-120"/>
                        </a:rPr>
                        <a:t>8 days</a:t>
                      </a:r>
                      <a:endParaRPr lang="en-US" sz="1200" dirty="0">
                        <a:latin typeface="Aptos" charset="0"/>
                        <a:ea typeface="Aptos" charset="0"/>
                        <a:cs typeface="Aptos" charset="0"/>
                      </a:endParaRPr>
                    </a:p>
                  </a:txBody>
                  <a:tcPr marL="109728" marR="109728" marT="109728" marB="109728"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D2733"/>
                          </a:solidFill>
                          <a:latin typeface="Aptos" pitchFamily="34" charset="0"/>
                          <a:ea typeface="Aptos" pitchFamily="34" charset="-122"/>
                          <a:cs typeface="Aptos" pitchFamily="34" charset="-120"/>
                        </a:rPr>
                        <a:t>Forecast / inventory</a:t>
                      </a:r>
                      <a:endParaRPr lang="en-US" sz="1200" dirty="0">
                        <a:latin typeface="Aptos" charset="0"/>
                        <a:ea typeface="Aptos" charset="0"/>
                        <a:cs typeface="Aptos" charset="0"/>
                      </a:endParaRPr>
                    </a:p>
                  </a:txBody>
                  <a:tcPr marL="109728" marR="109728" marT="109728" marB="109728"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D2733"/>
                          </a:solidFill>
                          <a:latin typeface="Aptos" pitchFamily="34" charset="0"/>
                          <a:ea typeface="Aptos" pitchFamily="34" charset="-122"/>
                          <a:cs typeface="Aptos" pitchFamily="34" charset="-120"/>
                        </a:rPr>
                        <a:t>Dynamic replenishment</a:t>
                      </a:r>
                      <a:endParaRPr lang="en-US" sz="1200" dirty="0">
                        <a:latin typeface="Aptos" charset="0"/>
                        <a:ea typeface="Aptos" charset="0"/>
                        <a:cs typeface="Aptos" charset="0"/>
                      </a:endParaRPr>
                    </a:p>
                  </a:txBody>
                  <a:tcPr marL="109728" marR="109728" marT="109728" marB="109728"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Shape 2"/>
          <p:cNvSpPr/>
          <p:nvPr/>
        </p:nvSpPr>
        <p:spPr>
          <a:xfrm>
            <a:off x="8321040" y="1481328"/>
            <a:ext cx="3200400" cy="3246120"/>
          </a:xfrm>
          <a:prstGeom prst="roundRect">
            <a:avLst/>
          </a:prstGeom>
          <a:solidFill>
            <a:srgbClr val="0B1F3A"/>
          </a:solidFill>
          <a:ln w="12700">
            <a:solidFill>
              <a:srgbClr val="0B1F3A"/>
            </a:solidFill>
            <a:prstDash val="solid"/>
          </a:ln>
        </p:spPr>
        <p:txBody>
          <a:bodyPr/>
          <a:lstStyle/>
          <a:p>
            <a:endParaRPr lang="en-US"/>
          </a:p>
        </p:txBody>
      </p:sp>
      <p:sp>
        <p:nvSpPr>
          <p:cNvPr id="6" name="Text 3"/>
          <p:cNvSpPr/>
          <p:nvPr/>
        </p:nvSpPr>
        <p:spPr>
          <a:xfrm>
            <a:off x="8613648" y="1783080"/>
            <a:ext cx="2606040" cy="365760"/>
          </a:xfrm>
          <a:prstGeom prst="rect">
            <a:avLst/>
          </a:prstGeom>
          <a:noFill/>
          <a:ln/>
        </p:spPr>
        <p:txBody>
          <a:bodyPr wrap="square" lIns="0" tIns="0" rIns="0" bIns="0" rtlCol="0" anchor="ctr"/>
          <a:lstStyle/>
          <a:p>
            <a:pPr marL="0" indent="0">
              <a:buNone/>
            </a:pPr>
            <a:r>
              <a:rPr lang="en-US" sz="1900" b="1" dirty="0">
                <a:solidFill>
                  <a:srgbClr val="FFFFFF"/>
                </a:solidFill>
              </a:rPr>
              <a:t>Shared risk pattern</a:t>
            </a:r>
            <a:endParaRPr lang="en-US" sz="1900" dirty="0"/>
          </a:p>
        </p:txBody>
      </p:sp>
      <p:sp>
        <p:nvSpPr>
          <p:cNvPr id="7" name="Text 4"/>
          <p:cNvSpPr/>
          <p:nvPr/>
        </p:nvSpPr>
        <p:spPr>
          <a:xfrm>
            <a:off x="8577072" y="2331720"/>
            <a:ext cx="2514600" cy="1828800"/>
          </a:xfrm>
          <a:prstGeom prst="rect">
            <a:avLst/>
          </a:prstGeom>
          <a:noFill/>
          <a:ln/>
        </p:spPr>
        <p:txBody>
          <a:bodyPr wrap="square" lIns="381" tIns="381" rIns="381" bIns="381" rtlCol="0" anchor="ctr">
            <a:normAutofit/>
          </a:bodyPr>
          <a:lstStyle/>
          <a:p>
            <a:pPr marL="177800" indent="-177800">
              <a:buSzPct val="100000"/>
              <a:buChar char="•"/>
            </a:pPr>
            <a:r>
              <a:rPr lang="en-US" sz="1300" dirty="0">
                <a:solidFill>
                  <a:srgbClr val="E6EEF7"/>
                </a:solidFill>
              </a:rPr>
              <a:t>Supplier performance instability</a:t>
            </a:r>
            <a:endParaRPr lang="en-US" sz="1300" dirty="0"/>
          </a:p>
          <a:p>
            <a:pPr marL="177800" indent="-177800">
              <a:buSzPct val="100000"/>
              <a:buChar char="•"/>
            </a:pPr>
            <a:r>
              <a:rPr lang="en-US" sz="1300" dirty="0">
                <a:solidFill>
                  <a:srgbClr val="E6EEF7"/>
                </a:solidFill>
              </a:rPr>
              <a:t>Production schedule exposure</a:t>
            </a:r>
            <a:endParaRPr lang="en-US" sz="1300" dirty="0"/>
          </a:p>
          <a:p>
            <a:pPr marL="177800" indent="-177800">
              <a:buSzPct val="100000"/>
              <a:buChar char="•"/>
            </a:pPr>
            <a:r>
              <a:rPr lang="en-US" sz="1300" dirty="0">
                <a:solidFill>
                  <a:srgbClr val="E6EEF7"/>
                </a:solidFill>
              </a:rPr>
              <a:t>Need for stronger contingency coverage</a:t>
            </a:r>
            <a:endParaRPr lang="en-US" sz="1300" dirty="0"/>
          </a:p>
          <a:p>
            <a:pPr marL="177800" indent="-177800">
              <a:buSzPct val="100000"/>
              <a:buChar char="•"/>
            </a:pPr>
            <a:r>
              <a:rPr lang="en-US" sz="1300" dirty="0">
                <a:solidFill>
                  <a:srgbClr val="E6EEF7"/>
                </a:solidFill>
              </a:rPr>
              <a:t>Potential quality and compliance escalation</a:t>
            </a:r>
            <a:endParaRPr lang="en-US" sz="1300" dirty="0"/>
          </a:p>
          <a:p>
            <a:pPr marL="177800" indent="-177800">
              <a:buSzPct val="100000"/>
              <a:buChar char="•"/>
            </a:pPr>
            <a:r>
              <a:rPr lang="en-US" sz="1300" dirty="0">
                <a:solidFill>
                  <a:srgbClr val="E6EEF7"/>
                </a:solidFill>
              </a:rPr>
              <a:t>Insufficient early-warning discipline</a:t>
            </a:r>
            <a:endParaRPr lang="en-US" sz="1300" dirty="0"/>
          </a:p>
        </p:txBody>
      </p:sp>
      <p:sp>
        <p:nvSpPr>
          <p:cNvPr id="8" name="Text 5"/>
          <p:cNvSpPr/>
          <p:nvPr/>
        </p:nvSpPr>
        <p:spPr>
          <a:xfrm>
            <a:off x="658368" y="5074920"/>
            <a:ext cx="10698480" cy="420624"/>
          </a:xfrm>
          <a:prstGeom prst="rect">
            <a:avLst/>
          </a:prstGeom>
          <a:noFill/>
          <a:ln/>
        </p:spPr>
        <p:txBody>
          <a:bodyPr wrap="square" lIns="0" tIns="0" rIns="0" bIns="0" rtlCol="0" anchor="ctr"/>
          <a:lstStyle/>
          <a:p>
            <a:pPr marL="0" indent="0">
              <a:buNone/>
            </a:pPr>
            <a:r>
              <a:rPr lang="en-US" sz="1050" i="1" dirty="0">
                <a:solidFill>
                  <a:srgbClr val="5B6573"/>
                </a:solidFill>
              </a:rPr>
              <a:t>Data note: the analysis report also contains an incomplete template section. This deck uses the populated component records and the completed review summary.</a:t>
            </a:r>
            <a:endParaRPr lang="en-US" sz="1050" dirty="0"/>
          </a:p>
        </p:txBody>
      </p:sp>
      <p:sp>
        <p:nvSpPr>
          <p:cNvPr id="25" name="Slide Number Placeholder 0"/>
          <p:cNvSpPr>
            <a:spLocks noGrp="1"/>
          </p:cNvSpPr>
          <p:nvPr>
            <p:ph type="sldNum" sz="quarter" idx="4294967295"/>
          </p:nvPr>
        </p:nvSpPr>
        <p:spPr>
          <a:xfrm>
            <a:off x="11109960" y="6547104"/>
            <a:ext cx="502920" cy="146304"/>
          </a:xfrm>
          <a:prstGeom prst="rect">
            <a:avLst/>
          </a:prstGeom>
          <a:extLst>
            <a:ext uri="{C572A759-6A51-4108-AA02-DFA0A04FC94B}">
              <ma14:wrappingTextBoxFlag xmlns:ma14="http://schemas.microsoft.com/office/mac/drawingml/2011/main" xmlns="" val="0"/>
            </a:ext>
          </a:extLst>
        </p:spPr>
        <p:txBody>
          <a:bodyPr/>
          <a:lstStyle>
            <a:lvl1pPr>
              <a:defRPr sz="800">
                <a:solidFill>
                  <a:srgbClr val="7B8491"/>
                </a:solidFill>
                <a:latin typeface="Aptos"/>
                <a:ea typeface="Aptos"/>
                <a:cs typeface="Aptos"/>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1" cy="1"/>
          <a:chOff x="0" y="0"/>
          <a:chExt cx="1" cy="1"/>
        </a:xfrm>
      </p:grpSpPr>
      <p:sp>
        <p:nvSpPr>
          <p:cNvPr id="2" name="Text 0"/>
          <p:cNvSpPr/>
          <p:nvPr/>
        </p:nvSpPr>
        <p:spPr>
          <a:xfrm>
            <a:off x="530352" y="566928"/>
            <a:ext cx="8138160" cy="457200"/>
          </a:xfrm>
          <a:prstGeom prst="rect">
            <a:avLst/>
          </a:prstGeom>
          <a:noFill/>
          <a:ln/>
        </p:spPr>
        <p:txBody>
          <a:bodyPr wrap="square" lIns="0" tIns="0" rIns="0" bIns="0" rtlCol="0" anchor="ctr"/>
          <a:lstStyle/>
          <a:p>
            <a:pPr marL="0" indent="0">
              <a:buNone/>
            </a:pPr>
            <a:r>
              <a:rPr lang="en-US" sz="2800" b="1" dirty="0">
                <a:solidFill>
                  <a:srgbClr val="0B1F3A"/>
                </a:solidFill>
              </a:rPr>
              <a:t>BIND567 risk review</a:t>
            </a:r>
            <a:endParaRPr lang="en-US" sz="2800" dirty="0"/>
          </a:p>
        </p:txBody>
      </p:sp>
      <p:sp>
        <p:nvSpPr>
          <p:cNvPr id="3" name="Text 1"/>
          <p:cNvSpPr/>
          <p:nvPr/>
        </p:nvSpPr>
        <p:spPr>
          <a:xfrm>
            <a:off x="548640" y="1033272"/>
            <a:ext cx="10789920" cy="292608"/>
          </a:xfrm>
          <a:prstGeom prst="rect">
            <a:avLst/>
          </a:prstGeom>
          <a:noFill/>
          <a:ln/>
        </p:spPr>
        <p:txBody>
          <a:bodyPr wrap="square" lIns="0" tIns="0" rIns="0" bIns="0" rtlCol="0" anchor="ctr"/>
          <a:lstStyle/>
          <a:p>
            <a:pPr marL="0" indent="0">
              <a:buNone/>
            </a:pPr>
            <a:r>
              <a:rPr lang="en-US" sz="1300" dirty="0">
                <a:solidFill>
                  <a:srgbClr val="5B6573"/>
                </a:solidFill>
              </a:rPr>
              <a:t>EcoSupply | Current risk classification: Medium</a:t>
            </a:r>
            <a:endParaRPr lang="en-US" sz="1300" dirty="0"/>
          </a:p>
        </p:txBody>
      </p:sp>
      <p:pic>
        <p:nvPicPr>
          <p:cNvPr id="4" name="Image 0" descr="/mnt/data/cc5543fcd4.png"/>
          <p:cNvPicPr>
            <a:picLocks noChangeAspect="1"/>
          </p:cNvPicPr>
          <p:nvPr/>
        </p:nvPicPr>
        <p:blipFill>
          <a:blip r:embed="rId3"/>
          <a:stretch>
            <a:fillRect/>
          </a:stretch>
        </p:blipFill>
        <p:spPr>
          <a:xfrm>
            <a:off x="7973568" y="1353312"/>
            <a:ext cx="3584448" cy="2057400"/>
          </a:xfrm>
          <a:prstGeom prst="rect">
            <a:avLst/>
          </a:prstGeom>
        </p:spPr>
      </p:pic>
      <p:sp>
        <p:nvSpPr>
          <p:cNvPr id="5" name="Shape 2"/>
          <p:cNvSpPr/>
          <p:nvPr/>
        </p:nvSpPr>
        <p:spPr>
          <a:xfrm>
            <a:off x="612648" y="1389888"/>
            <a:ext cx="7059168" cy="2011680"/>
          </a:xfrm>
          <a:prstGeom prst="roundRect">
            <a:avLst/>
          </a:prstGeom>
          <a:solidFill>
            <a:srgbClr val="FFFFFF"/>
          </a:solidFill>
          <a:ln w="12700">
            <a:solidFill>
              <a:srgbClr val="DCE2EA"/>
            </a:solidFill>
            <a:prstDash val="solid"/>
          </a:ln>
        </p:spPr>
        <p:txBody>
          <a:bodyPr/>
          <a:lstStyle/>
          <a:p>
            <a:endParaRPr lang="en-US"/>
          </a:p>
        </p:txBody>
      </p:sp>
      <p:sp>
        <p:nvSpPr>
          <p:cNvPr id="6" name="Shape 3"/>
          <p:cNvSpPr/>
          <p:nvPr/>
        </p:nvSpPr>
        <p:spPr>
          <a:xfrm>
            <a:off x="868680" y="1664208"/>
            <a:ext cx="1097280" cy="310896"/>
          </a:xfrm>
          <a:prstGeom prst="roundRect">
            <a:avLst>
              <a:gd name="adj" fmla="val 23529"/>
            </a:avLst>
          </a:prstGeom>
          <a:solidFill>
            <a:srgbClr val="C8102E"/>
          </a:solidFill>
          <a:ln w="12700">
            <a:solidFill>
              <a:srgbClr val="C8102E"/>
            </a:solidFill>
            <a:prstDash val="solid"/>
          </a:ln>
        </p:spPr>
        <p:txBody>
          <a:bodyPr/>
          <a:lstStyle/>
          <a:p>
            <a:endParaRPr lang="en-US"/>
          </a:p>
        </p:txBody>
      </p:sp>
      <p:sp>
        <p:nvSpPr>
          <p:cNvPr id="7" name="Text 4"/>
          <p:cNvSpPr/>
          <p:nvPr/>
        </p:nvSpPr>
        <p:spPr>
          <a:xfrm>
            <a:off x="941832" y="1719072"/>
            <a:ext cx="950976" cy="182880"/>
          </a:xfrm>
          <a:prstGeom prst="rect">
            <a:avLst/>
          </a:prstGeom>
          <a:noFill/>
          <a:ln/>
        </p:spPr>
        <p:txBody>
          <a:bodyPr wrap="square" lIns="0" tIns="0" rIns="0" bIns="0" rtlCol="0" anchor="ctr"/>
          <a:lstStyle/>
          <a:p>
            <a:pPr marL="0" indent="0" algn="ctr">
              <a:buNone/>
            </a:pPr>
            <a:r>
              <a:rPr lang="en-US" sz="900" b="1" dirty="0">
                <a:solidFill>
                  <a:srgbClr val="FFFFFF"/>
                </a:solidFill>
              </a:rPr>
              <a:t>10 DAYS</a:t>
            </a:r>
            <a:endParaRPr lang="en-US" sz="900" dirty="0"/>
          </a:p>
        </p:txBody>
      </p:sp>
      <p:sp>
        <p:nvSpPr>
          <p:cNvPr id="8" name="Text 5"/>
          <p:cNvSpPr/>
          <p:nvPr/>
        </p:nvSpPr>
        <p:spPr>
          <a:xfrm>
            <a:off x="2176272" y="1682496"/>
            <a:ext cx="731520" cy="201168"/>
          </a:xfrm>
          <a:prstGeom prst="rect">
            <a:avLst/>
          </a:prstGeom>
          <a:noFill/>
          <a:ln/>
        </p:spPr>
        <p:txBody>
          <a:bodyPr wrap="square" lIns="0" tIns="0" rIns="0" bIns="0" rtlCol="0" anchor="ctr"/>
          <a:lstStyle/>
          <a:p>
            <a:pPr marL="0" indent="0">
              <a:buNone/>
            </a:pPr>
            <a:r>
              <a:rPr lang="en-US" sz="1000" b="1" kern="0" spc="100" dirty="0">
                <a:solidFill>
                  <a:srgbClr val="5B6573"/>
                </a:solidFill>
              </a:rPr>
              <a:t>ISSUE</a:t>
            </a:r>
            <a:endParaRPr lang="en-US" sz="1000" dirty="0"/>
          </a:p>
        </p:txBody>
      </p:sp>
      <p:sp>
        <p:nvSpPr>
          <p:cNvPr id="9" name="Text 6"/>
          <p:cNvSpPr/>
          <p:nvPr/>
        </p:nvSpPr>
        <p:spPr>
          <a:xfrm>
            <a:off x="2176272" y="1965960"/>
            <a:ext cx="5047488" cy="1051560"/>
          </a:xfrm>
          <a:prstGeom prst="rect">
            <a:avLst/>
          </a:prstGeom>
          <a:noFill/>
          <a:ln/>
        </p:spPr>
        <p:txBody>
          <a:bodyPr wrap="square" lIns="0" tIns="0" rIns="0" bIns="0" rtlCol="0" anchor="ctr">
            <a:normAutofit/>
          </a:bodyPr>
          <a:lstStyle/>
          <a:p>
            <a:pPr marL="0" indent="0">
              <a:buNone/>
            </a:pPr>
            <a:r>
              <a:rPr lang="en-US" sz="1800" b="1" dirty="0">
                <a:solidFill>
                  <a:srgbClr val="0B1F3A"/>
                </a:solidFill>
              </a:rPr>
              <a:t>Confirmed delivery delay close to critical production deadlines, compounded by recurring supplier delays and limited contingency coverage.</a:t>
            </a:r>
            <a:endParaRPr lang="en-US" sz="1800" dirty="0"/>
          </a:p>
        </p:txBody>
      </p:sp>
      <p:sp>
        <p:nvSpPr>
          <p:cNvPr id="10" name="Shape 7"/>
          <p:cNvSpPr/>
          <p:nvPr/>
        </p:nvSpPr>
        <p:spPr>
          <a:xfrm>
            <a:off x="612648" y="3703320"/>
            <a:ext cx="5230368" cy="1691640"/>
          </a:xfrm>
          <a:prstGeom prst="roundRect">
            <a:avLst>
              <a:gd name="adj" fmla="val 4324"/>
            </a:avLst>
          </a:prstGeom>
          <a:solidFill>
            <a:srgbClr val="FFFFFF"/>
          </a:solidFill>
          <a:ln w="12700">
            <a:solidFill>
              <a:srgbClr val="DCE2EA"/>
            </a:solidFill>
            <a:prstDash val="solid"/>
          </a:ln>
        </p:spPr>
        <p:txBody>
          <a:bodyPr/>
          <a:lstStyle/>
          <a:p>
            <a:endParaRPr lang="en-US"/>
          </a:p>
        </p:txBody>
      </p:sp>
      <p:sp>
        <p:nvSpPr>
          <p:cNvPr id="11" name="Shape 8"/>
          <p:cNvSpPr/>
          <p:nvPr/>
        </p:nvSpPr>
        <p:spPr>
          <a:xfrm>
            <a:off x="612648" y="3703320"/>
            <a:ext cx="73152" cy="1691640"/>
          </a:xfrm>
          <a:prstGeom prst="rect">
            <a:avLst/>
          </a:prstGeom>
          <a:solidFill>
            <a:srgbClr val="C8102E"/>
          </a:solidFill>
          <a:ln w="12700">
            <a:solidFill>
              <a:srgbClr val="C8102E"/>
            </a:solidFill>
            <a:prstDash val="solid"/>
          </a:ln>
        </p:spPr>
        <p:txBody>
          <a:bodyPr/>
          <a:lstStyle/>
          <a:p>
            <a:endParaRPr lang="en-US"/>
          </a:p>
        </p:txBody>
      </p:sp>
      <p:sp>
        <p:nvSpPr>
          <p:cNvPr id="12" name="Text 9"/>
          <p:cNvSpPr/>
          <p:nvPr/>
        </p:nvSpPr>
        <p:spPr>
          <a:xfrm>
            <a:off x="832104" y="3867912"/>
            <a:ext cx="4818888" cy="292608"/>
          </a:xfrm>
          <a:prstGeom prst="rect">
            <a:avLst/>
          </a:prstGeom>
          <a:noFill/>
          <a:ln/>
        </p:spPr>
        <p:txBody>
          <a:bodyPr wrap="square" lIns="0" tIns="0" rIns="0" bIns="0" rtlCol="0" anchor="ctr"/>
          <a:lstStyle/>
          <a:p>
            <a:pPr marL="0" indent="0">
              <a:buNone/>
            </a:pPr>
            <a:r>
              <a:rPr lang="en-US" sz="1600" b="1" dirty="0">
                <a:solidFill>
                  <a:srgbClr val="0B1F3A"/>
                </a:solidFill>
              </a:rPr>
              <a:t>Evidence from current analysis</a:t>
            </a:r>
            <a:endParaRPr lang="en-US" sz="1600" dirty="0"/>
          </a:p>
        </p:txBody>
      </p:sp>
      <p:sp>
        <p:nvSpPr>
          <p:cNvPr id="13" name="Text 10"/>
          <p:cNvSpPr/>
          <p:nvPr/>
        </p:nvSpPr>
        <p:spPr>
          <a:xfrm>
            <a:off x="832104" y="4270248"/>
            <a:ext cx="4818888" cy="996696"/>
          </a:xfrm>
          <a:prstGeom prst="rect">
            <a:avLst/>
          </a:prstGeom>
          <a:noFill/>
          <a:ln/>
        </p:spPr>
        <p:txBody>
          <a:bodyPr wrap="square" lIns="254" tIns="254" rIns="254" bIns="254" rtlCol="0" anchor="ctr">
            <a:normAutofit/>
          </a:bodyPr>
          <a:lstStyle/>
          <a:p>
            <a:r>
              <a:rPr lang="en-US" sz="1150" dirty="0">
                <a:solidFill>
                  <a:srgbClr val="1D2733"/>
                </a:solidFill>
              </a:rPr>
              <a:t>Delivery tracking indicates recurring shipment delays over the past quarter.</a:t>
            </a:r>
            <a:endParaRPr lang="en-US" sz="1150" dirty="0"/>
          </a:p>
          <a:p>
            <a:r>
              <a:rPr lang="en-US" sz="1150" dirty="0">
                <a:solidFill>
                  <a:srgbClr val="1D2733"/>
                </a:solidFill>
              </a:rPr>
              <a:t>Reliance on EcoSupply increases vulnerability.</a:t>
            </a:r>
            <a:endParaRPr lang="en-US" sz="1150" dirty="0"/>
          </a:p>
        </p:txBody>
      </p:sp>
      <p:sp>
        <p:nvSpPr>
          <p:cNvPr id="14" name="Shape 11"/>
          <p:cNvSpPr/>
          <p:nvPr/>
        </p:nvSpPr>
        <p:spPr>
          <a:xfrm>
            <a:off x="6071616" y="3703320"/>
            <a:ext cx="5468112" cy="1691640"/>
          </a:xfrm>
          <a:prstGeom prst="roundRect">
            <a:avLst>
              <a:gd name="adj" fmla="val 4324"/>
            </a:avLst>
          </a:prstGeom>
          <a:solidFill>
            <a:srgbClr val="FFFFFF"/>
          </a:solidFill>
          <a:ln w="12700">
            <a:solidFill>
              <a:srgbClr val="DCE2EA"/>
            </a:solidFill>
            <a:prstDash val="solid"/>
          </a:ln>
        </p:spPr>
        <p:txBody>
          <a:bodyPr/>
          <a:lstStyle/>
          <a:p>
            <a:endParaRPr lang="en-US"/>
          </a:p>
        </p:txBody>
      </p:sp>
      <p:sp>
        <p:nvSpPr>
          <p:cNvPr id="15" name="Shape 12"/>
          <p:cNvSpPr/>
          <p:nvPr/>
        </p:nvSpPr>
        <p:spPr>
          <a:xfrm>
            <a:off x="6071616" y="3703320"/>
            <a:ext cx="73152" cy="1691640"/>
          </a:xfrm>
          <a:prstGeom prst="rect">
            <a:avLst/>
          </a:prstGeom>
          <a:solidFill>
            <a:srgbClr val="007C83"/>
          </a:solidFill>
          <a:ln w="12700">
            <a:solidFill>
              <a:srgbClr val="007C83"/>
            </a:solidFill>
            <a:prstDash val="solid"/>
          </a:ln>
        </p:spPr>
        <p:txBody>
          <a:bodyPr/>
          <a:lstStyle/>
          <a:p>
            <a:endParaRPr lang="en-US"/>
          </a:p>
        </p:txBody>
      </p:sp>
      <p:sp>
        <p:nvSpPr>
          <p:cNvPr id="16" name="Text 13"/>
          <p:cNvSpPr/>
          <p:nvPr/>
        </p:nvSpPr>
        <p:spPr>
          <a:xfrm>
            <a:off x="6291072" y="3867912"/>
            <a:ext cx="5056632" cy="292608"/>
          </a:xfrm>
          <a:prstGeom prst="rect">
            <a:avLst/>
          </a:prstGeom>
          <a:noFill/>
          <a:ln/>
        </p:spPr>
        <p:txBody>
          <a:bodyPr wrap="square" lIns="0" tIns="0" rIns="0" bIns="0" rtlCol="0" anchor="ctr"/>
          <a:lstStyle/>
          <a:p>
            <a:pPr marL="0" indent="0">
              <a:buNone/>
            </a:pPr>
            <a:r>
              <a:rPr lang="en-US" sz="1600" b="1" dirty="0">
                <a:solidFill>
                  <a:srgbClr val="0B1F3A"/>
                </a:solidFill>
              </a:rPr>
              <a:t>Required actions</a:t>
            </a:r>
            <a:endParaRPr lang="en-US" sz="1600" dirty="0"/>
          </a:p>
        </p:txBody>
      </p:sp>
      <p:sp>
        <p:nvSpPr>
          <p:cNvPr id="17" name="Text 14"/>
          <p:cNvSpPr/>
          <p:nvPr/>
        </p:nvSpPr>
        <p:spPr>
          <a:xfrm>
            <a:off x="6291072" y="4270248"/>
            <a:ext cx="5056632" cy="996696"/>
          </a:xfrm>
          <a:prstGeom prst="rect">
            <a:avLst/>
          </a:prstGeom>
          <a:noFill/>
          <a:ln/>
        </p:spPr>
        <p:txBody>
          <a:bodyPr wrap="square" lIns="254" tIns="254" rIns="254" bIns="254" rtlCol="0" anchor="ctr">
            <a:normAutofit/>
          </a:bodyPr>
          <a:lstStyle/>
          <a:p>
            <a:r>
              <a:rPr lang="en-US" sz="1150" dirty="0">
                <a:solidFill>
                  <a:srgbClr val="1D2733"/>
                </a:solidFill>
              </a:rPr>
              <a:t>Negotiate expedited shipping where feasible.</a:t>
            </a:r>
            <a:endParaRPr lang="en-US" sz="1150" dirty="0"/>
          </a:p>
          <a:p>
            <a:r>
              <a:rPr lang="en-US" sz="1150" dirty="0">
                <a:solidFill>
                  <a:srgbClr val="1D2733"/>
                </a:solidFill>
              </a:rPr>
              <a:t>Increase inventory buffer.</a:t>
            </a:r>
            <a:endParaRPr lang="en-US" sz="1150" dirty="0"/>
          </a:p>
          <a:p>
            <a:r>
              <a:rPr lang="en-US" sz="1150" dirty="0">
                <a:solidFill>
                  <a:srgbClr val="1D2733"/>
                </a:solidFill>
              </a:rPr>
              <a:t>Assess alternative-supplier options.</a:t>
            </a:r>
            <a:endParaRPr lang="en-US" sz="1150" dirty="0"/>
          </a:p>
          <a:p>
            <a:r>
              <a:rPr lang="en-US" sz="1150" dirty="0">
                <a:solidFill>
                  <a:srgbClr val="1D2733"/>
                </a:solidFill>
              </a:rPr>
              <a:t>Document quality and compliance impact.</a:t>
            </a:r>
            <a:endParaRPr lang="en-US" sz="1150" dirty="0"/>
          </a:p>
        </p:txBody>
      </p:sp>
      <p:sp>
        <p:nvSpPr>
          <p:cNvPr id="25" name="Slide Number Placeholder 0"/>
          <p:cNvSpPr>
            <a:spLocks noGrp="1"/>
          </p:cNvSpPr>
          <p:nvPr>
            <p:ph type="sldNum" sz="quarter" idx="4294967295"/>
          </p:nvPr>
        </p:nvSpPr>
        <p:spPr>
          <a:xfrm>
            <a:off x="11109960" y="6547104"/>
            <a:ext cx="502920" cy="146304"/>
          </a:xfrm>
          <a:prstGeom prst="rect">
            <a:avLst/>
          </a:prstGeom>
          <a:extLst>
            <a:ext uri="{C572A759-6A51-4108-AA02-DFA0A04FC94B}">
              <ma14:wrappingTextBoxFlag xmlns:ma14="http://schemas.microsoft.com/office/mac/drawingml/2011/main" xmlns="" val="0"/>
            </a:ext>
          </a:extLst>
        </p:spPr>
        <p:txBody>
          <a:bodyPr/>
          <a:lstStyle>
            <a:lvl1pPr>
              <a:defRPr sz="800">
                <a:solidFill>
                  <a:srgbClr val="7B8491"/>
                </a:solidFill>
                <a:latin typeface="Aptos"/>
                <a:ea typeface="Aptos"/>
                <a:cs typeface="Aptos"/>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1" cy="1"/>
          <a:chOff x="0" y="0"/>
          <a:chExt cx="1" cy="1"/>
        </a:xfrm>
      </p:grpSpPr>
      <p:sp>
        <p:nvSpPr>
          <p:cNvPr id="2" name="Text 0"/>
          <p:cNvSpPr/>
          <p:nvPr/>
        </p:nvSpPr>
        <p:spPr>
          <a:xfrm>
            <a:off x="530352" y="566928"/>
            <a:ext cx="8138160" cy="457200"/>
          </a:xfrm>
          <a:prstGeom prst="rect">
            <a:avLst/>
          </a:prstGeom>
          <a:noFill/>
          <a:ln/>
        </p:spPr>
        <p:txBody>
          <a:bodyPr wrap="square" lIns="0" tIns="0" rIns="0" bIns="0" rtlCol="0" anchor="ctr"/>
          <a:lstStyle/>
          <a:p>
            <a:pPr marL="0" indent="0">
              <a:buNone/>
            </a:pPr>
            <a:r>
              <a:rPr lang="en-US" sz="2800" b="1" dirty="0">
                <a:solidFill>
                  <a:srgbClr val="0B1F3A"/>
                </a:solidFill>
              </a:rPr>
              <a:t>COMP042 risk review</a:t>
            </a:r>
            <a:endParaRPr lang="en-US" sz="2800" dirty="0"/>
          </a:p>
        </p:txBody>
      </p:sp>
      <p:sp>
        <p:nvSpPr>
          <p:cNvPr id="3" name="Text 1"/>
          <p:cNvSpPr/>
          <p:nvPr/>
        </p:nvSpPr>
        <p:spPr>
          <a:xfrm>
            <a:off x="548640" y="1033272"/>
            <a:ext cx="10789920" cy="292608"/>
          </a:xfrm>
          <a:prstGeom prst="rect">
            <a:avLst/>
          </a:prstGeom>
          <a:noFill/>
          <a:ln/>
        </p:spPr>
        <p:txBody>
          <a:bodyPr wrap="square" lIns="0" tIns="0" rIns="0" bIns="0" rtlCol="0" anchor="ctr"/>
          <a:lstStyle/>
          <a:p>
            <a:pPr marL="0" indent="0">
              <a:buNone/>
            </a:pPr>
            <a:r>
              <a:rPr lang="en-US" sz="1300" dirty="0">
                <a:solidFill>
                  <a:srgbClr val="5B6573"/>
                </a:solidFill>
              </a:rPr>
              <a:t>PrimeLogistics | Current risk classification: Medium</a:t>
            </a:r>
            <a:endParaRPr lang="en-US" sz="1300" dirty="0"/>
          </a:p>
        </p:txBody>
      </p:sp>
      <p:pic>
        <p:nvPicPr>
          <p:cNvPr id="4" name="Image 0" descr="/mnt/data/c7250e2b4c.png"/>
          <p:cNvPicPr>
            <a:picLocks noChangeAspect="1"/>
          </p:cNvPicPr>
          <p:nvPr/>
        </p:nvPicPr>
        <p:blipFill>
          <a:blip r:embed="rId3"/>
          <a:stretch>
            <a:fillRect/>
          </a:stretch>
        </p:blipFill>
        <p:spPr>
          <a:xfrm>
            <a:off x="7973568" y="1353312"/>
            <a:ext cx="3584448" cy="2057400"/>
          </a:xfrm>
          <a:prstGeom prst="rect">
            <a:avLst/>
          </a:prstGeom>
        </p:spPr>
      </p:pic>
      <p:sp>
        <p:nvSpPr>
          <p:cNvPr id="5" name="Shape 2"/>
          <p:cNvSpPr/>
          <p:nvPr/>
        </p:nvSpPr>
        <p:spPr>
          <a:xfrm>
            <a:off x="612648" y="1389888"/>
            <a:ext cx="7059168" cy="2011680"/>
          </a:xfrm>
          <a:prstGeom prst="roundRect">
            <a:avLst/>
          </a:prstGeom>
          <a:solidFill>
            <a:srgbClr val="FFFFFF"/>
          </a:solidFill>
          <a:ln w="12700">
            <a:solidFill>
              <a:srgbClr val="DCE2EA"/>
            </a:solidFill>
            <a:prstDash val="solid"/>
          </a:ln>
        </p:spPr>
        <p:txBody>
          <a:bodyPr/>
          <a:lstStyle/>
          <a:p>
            <a:endParaRPr lang="en-US"/>
          </a:p>
        </p:txBody>
      </p:sp>
      <p:sp>
        <p:nvSpPr>
          <p:cNvPr id="6" name="Shape 3"/>
          <p:cNvSpPr/>
          <p:nvPr/>
        </p:nvSpPr>
        <p:spPr>
          <a:xfrm>
            <a:off x="868680" y="1664208"/>
            <a:ext cx="1097280" cy="310896"/>
          </a:xfrm>
          <a:prstGeom prst="roundRect">
            <a:avLst>
              <a:gd name="adj" fmla="val 23529"/>
            </a:avLst>
          </a:prstGeom>
          <a:solidFill>
            <a:srgbClr val="E59E2F"/>
          </a:solidFill>
          <a:ln w="12700">
            <a:solidFill>
              <a:srgbClr val="E59E2F"/>
            </a:solidFill>
            <a:prstDash val="solid"/>
          </a:ln>
        </p:spPr>
        <p:txBody>
          <a:bodyPr/>
          <a:lstStyle/>
          <a:p>
            <a:endParaRPr lang="en-US"/>
          </a:p>
        </p:txBody>
      </p:sp>
      <p:sp>
        <p:nvSpPr>
          <p:cNvPr id="7" name="Text 4"/>
          <p:cNvSpPr/>
          <p:nvPr/>
        </p:nvSpPr>
        <p:spPr>
          <a:xfrm>
            <a:off x="941832" y="1719072"/>
            <a:ext cx="950976" cy="182880"/>
          </a:xfrm>
          <a:prstGeom prst="rect">
            <a:avLst/>
          </a:prstGeom>
          <a:noFill/>
          <a:ln/>
        </p:spPr>
        <p:txBody>
          <a:bodyPr wrap="square" lIns="0" tIns="0" rIns="0" bIns="0" rtlCol="0" anchor="ctr"/>
          <a:lstStyle/>
          <a:p>
            <a:pPr marL="0" indent="0" algn="ctr">
              <a:buNone/>
            </a:pPr>
            <a:r>
              <a:rPr lang="en-US" sz="900" b="1" dirty="0">
                <a:solidFill>
                  <a:srgbClr val="FFFFFF"/>
                </a:solidFill>
              </a:rPr>
              <a:t>13 DAYS</a:t>
            </a:r>
            <a:endParaRPr lang="en-US" sz="900" dirty="0"/>
          </a:p>
        </p:txBody>
      </p:sp>
      <p:sp>
        <p:nvSpPr>
          <p:cNvPr id="8" name="Text 5"/>
          <p:cNvSpPr/>
          <p:nvPr/>
        </p:nvSpPr>
        <p:spPr>
          <a:xfrm>
            <a:off x="2176272" y="1682496"/>
            <a:ext cx="731520" cy="201168"/>
          </a:xfrm>
          <a:prstGeom prst="rect">
            <a:avLst/>
          </a:prstGeom>
          <a:noFill/>
          <a:ln/>
        </p:spPr>
        <p:txBody>
          <a:bodyPr wrap="square" lIns="0" tIns="0" rIns="0" bIns="0" rtlCol="0" anchor="ctr"/>
          <a:lstStyle/>
          <a:p>
            <a:pPr marL="0" indent="0">
              <a:buNone/>
            </a:pPr>
            <a:r>
              <a:rPr lang="en-US" sz="1000" b="1" kern="0" spc="100" dirty="0">
                <a:solidFill>
                  <a:srgbClr val="5B6573"/>
                </a:solidFill>
              </a:rPr>
              <a:t>ISSUE</a:t>
            </a:r>
            <a:endParaRPr lang="en-US" sz="1000" dirty="0"/>
          </a:p>
        </p:txBody>
      </p:sp>
      <p:sp>
        <p:nvSpPr>
          <p:cNvPr id="9" name="Text 6"/>
          <p:cNvSpPr/>
          <p:nvPr/>
        </p:nvSpPr>
        <p:spPr>
          <a:xfrm>
            <a:off x="2176272" y="1965960"/>
            <a:ext cx="5047488" cy="1051560"/>
          </a:xfrm>
          <a:prstGeom prst="rect">
            <a:avLst/>
          </a:prstGeom>
          <a:noFill/>
          <a:ln/>
        </p:spPr>
        <p:txBody>
          <a:bodyPr wrap="square" lIns="0" tIns="0" rIns="0" bIns="0" rtlCol="0" anchor="ctr">
            <a:normAutofit/>
          </a:bodyPr>
          <a:lstStyle/>
          <a:p>
            <a:pPr marL="0" indent="0">
              <a:buNone/>
            </a:pPr>
            <a:r>
              <a:rPr lang="en-US" sz="1800" b="1" dirty="0">
                <a:solidFill>
                  <a:srgbClr val="0B1F3A"/>
                </a:solidFill>
              </a:rPr>
              <a:t>Lead-time variability exceeds typical thresholds and may require expedited transportation, increasing cost and operational exposure.</a:t>
            </a:r>
            <a:endParaRPr lang="en-US" sz="1800" dirty="0"/>
          </a:p>
        </p:txBody>
      </p:sp>
      <p:sp>
        <p:nvSpPr>
          <p:cNvPr id="10" name="Shape 7"/>
          <p:cNvSpPr/>
          <p:nvPr/>
        </p:nvSpPr>
        <p:spPr>
          <a:xfrm>
            <a:off x="612648" y="3703320"/>
            <a:ext cx="5230368" cy="1691640"/>
          </a:xfrm>
          <a:prstGeom prst="roundRect">
            <a:avLst>
              <a:gd name="adj" fmla="val 4324"/>
            </a:avLst>
          </a:prstGeom>
          <a:solidFill>
            <a:srgbClr val="FFFFFF"/>
          </a:solidFill>
          <a:ln w="12700">
            <a:solidFill>
              <a:srgbClr val="DCE2EA"/>
            </a:solidFill>
            <a:prstDash val="solid"/>
          </a:ln>
        </p:spPr>
        <p:txBody>
          <a:bodyPr/>
          <a:lstStyle/>
          <a:p>
            <a:endParaRPr lang="en-US"/>
          </a:p>
        </p:txBody>
      </p:sp>
      <p:sp>
        <p:nvSpPr>
          <p:cNvPr id="11" name="Shape 8"/>
          <p:cNvSpPr/>
          <p:nvPr/>
        </p:nvSpPr>
        <p:spPr>
          <a:xfrm>
            <a:off x="612648" y="3703320"/>
            <a:ext cx="73152" cy="1691640"/>
          </a:xfrm>
          <a:prstGeom prst="rect">
            <a:avLst/>
          </a:prstGeom>
          <a:solidFill>
            <a:srgbClr val="E59E2F"/>
          </a:solidFill>
          <a:ln w="12700">
            <a:solidFill>
              <a:srgbClr val="E59E2F"/>
            </a:solidFill>
            <a:prstDash val="solid"/>
          </a:ln>
        </p:spPr>
        <p:txBody>
          <a:bodyPr/>
          <a:lstStyle/>
          <a:p>
            <a:endParaRPr lang="en-US"/>
          </a:p>
        </p:txBody>
      </p:sp>
      <p:sp>
        <p:nvSpPr>
          <p:cNvPr id="12" name="Text 9"/>
          <p:cNvSpPr/>
          <p:nvPr/>
        </p:nvSpPr>
        <p:spPr>
          <a:xfrm>
            <a:off x="832104" y="3867912"/>
            <a:ext cx="4818888" cy="292608"/>
          </a:xfrm>
          <a:prstGeom prst="rect">
            <a:avLst/>
          </a:prstGeom>
          <a:noFill/>
          <a:ln/>
        </p:spPr>
        <p:txBody>
          <a:bodyPr wrap="square" lIns="0" tIns="0" rIns="0" bIns="0" rtlCol="0" anchor="ctr"/>
          <a:lstStyle/>
          <a:p>
            <a:pPr marL="0" indent="0">
              <a:buNone/>
            </a:pPr>
            <a:r>
              <a:rPr lang="en-US" sz="1600" b="1" dirty="0">
                <a:solidFill>
                  <a:srgbClr val="0B1F3A"/>
                </a:solidFill>
              </a:rPr>
              <a:t>Evidence from current analysis</a:t>
            </a:r>
            <a:endParaRPr lang="en-US" sz="1600" dirty="0"/>
          </a:p>
        </p:txBody>
      </p:sp>
      <p:sp>
        <p:nvSpPr>
          <p:cNvPr id="13" name="Text 10"/>
          <p:cNvSpPr/>
          <p:nvPr/>
        </p:nvSpPr>
        <p:spPr>
          <a:xfrm>
            <a:off x="832104" y="4270248"/>
            <a:ext cx="4818888" cy="996696"/>
          </a:xfrm>
          <a:prstGeom prst="rect">
            <a:avLst/>
          </a:prstGeom>
          <a:noFill/>
          <a:ln/>
        </p:spPr>
        <p:txBody>
          <a:bodyPr wrap="square" lIns="254" tIns="254" rIns="254" bIns="254" rtlCol="0" anchor="ctr">
            <a:normAutofit/>
          </a:bodyPr>
          <a:lstStyle/>
          <a:p>
            <a:r>
              <a:rPr lang="en-US" sz="1150" dirty="0">
                <a:solidFill>
                  <a:srgbClr val="1D2733"/>
                </a:solidFill>
              </a:rPr>
              <a:t>Lead-time variance reported up to 3 days.</a:t>
            </a:r>
            <a:endParaRPr lang="en-US" sz="1150" dirty="0"/>
          </a:p>
          <a:p>
            <a:r>
              <a:rPr lang="en-US" sz="1150" dirty="0">
                <a:solidFill>
                  <a:srgbClr val="1D2733"/>
                </a:solidFill>
              </a:rPr>
              <a:t>Weak demand forecasting is identified as a contributing factor.</a:t>
            </a:r>
            <a:endParaRPr lang="en-US" sz="1150" dirty="0"/>
          </a:p>
        </p:txBody>
      </p:sp>
      <p:sp>
        <p:nvSpPr>
          <p:cNvPr id="14" name="Shape 11"/>
          <p:cNvSpPr/>
          <p:nvPr/>
        </p:nvSpPr>
        <p:spPr>
          <a:xfrm>
            <a:off x="6071616" y="3703320"/>
            <a:ext cx="5468112" cy="1691640"/>
          </a:xfrm>
          <a:prstGeom prst="roundRect">
            <a:avLst>
              <a:gd name="adj" fmla="val 4324"/>
            </a:avLst>
          </a:prstGeom>
          <a:solidFill>
            <a:srgbClr val="FFFFFF"/>
          </a:solidFill>
          <a:ln w="12700">
            <a:solidFill>
              <a:srgbClr val="DCE2EA"/>
            </a:solidFill>
            <a:prstDash val="solid"/>
          </a:ln>
        </p:spPr>
        <p:txBody>
          <a:bodyPr/>
          <a:lstStyle/>
          <a:p>
            <a:endParaRPr lang="en-US"/>
          </a:p>
        </p:txBody>
      </p:sp>
      <p:sp>
        <p:nvSpPr>
          <p:cNvPr id="15" name="Shape 12"/>
          <p:cNvSpPr/>
          <p:nvPr/>
        </p:nvSpPr>
        <p:spPr>
          <a:xfrm>
            <a:off x="6071616" y="3703320"/>
            <a:ext cx="73152" cy="1691640"/>
          </a:xfrm>
          <a:prstGeom prst="rect">
            <a:avLst/>
          </a:prstGeom>
          <a:solidFill>
            <a:srgbClr val="007C83"/>
          </a:solidFill>
          <a:ln w="12700">
            <a:solidFill>
              <a:srgbClr val="007C83"/>
            </a:solidFill>
            <a:prstDash val="solid"/>
          </a:ln>
        </p:spPr>
        <p:txBody>
          <a:bodyPr/>
          <a:lstStyle/>
          <a:p>
            <a:endParaRPr lang="en-US"/>
          </a:p>
        </p:txBody>
      </p:sp>
      <p:sp>
        <p:nvSpPr>
          <p:cNvPr id="16" name="Text 13"/>
          <p:cNvSpPr/>
          <p:nvPr/>
        </p:nvSpPr>
        <p:spPr>
          <a:xfrm>
            <a:off x="6291072" y="3867912"/>
            <a:ext cx="5056632" cy="292608"/>
          </a:xfrm>
          <a:prstGeom prst="rect">
            <a:avLst/>
          </a:prstGeom>
          <a:noFill/>
          <a:ln/>
        </p:spPr>
        <p:txBody>
          <a:bodyPr wrap="square" lIns="0" tIns="0" rIns="0" bIns="0" rtlCol="0" anchor="ctr"/>
          <a:lstStyle/>
          <a:p>
            <a:pPr marL="0" indent="0">
              <a:buNone/>
            </a:pPr>
            <a:r>
              <a:rPr lang="en-US" sz="1600" b="1" dirty="0">
                <a:solidFill>
                  <a:srgbClr val="0B1F3A"/>
                </a:solidFill>
              </a:rPr>
              <a:t>Required actions</a:t>
            </a:r>
            <a:endParaRPr lang="en-US" sz="1600" dirty="0"/>
          </a:p>
        </p:txBody>
      </p:sp>
      <p:sp>
        <p:nvSpPr>
          <p:cNvPr id="17" name="Text 14"/>
          <p:cNvSpPr/>
          <p:nvPr/>
        </p:nvSpPr>
        <p:spPr>
          <a:xfrm>
            <a:off x="6291072" y="4270248"/>
            <a:ext cx="5056632" cy="996696"/>
          </a:xfrm>
          <a:prstGeom prst="rect">
            <a:avLst/>
          </a:prstGeom>
          <a:noFill/>
          <a:ln/>
        </p:spPr>
        <p:txBody>
          <a:bodyPr wrap="square" lIns="254" tIns="254" rIns="254" bIns="254" rtlCol="0" anchor="ctr">
            <a:normAutofit/>
          </a:bodyPr>
          <a:lstStyle/>
          <a:p>
            <a:r>
              <a:rPr lang="en-US" sz="1150" dirty="0">
                <a:solidFill>
                  <a:srgbClr val="1D2733"/>
                </a:solidFill>
              </a:rPr>
              <a:t>Collaborate on demand planning.</a:t>
            </a:r>
            <a:endParaRPr lang="en-US" sz="1150" dirty="0"/>
          </a:p>
          <a:p>
            <a:r>
              <a:rPr lang="en-US" sz="1150" dirty="0">
                <a:solidFill>
                  <a:srgbClr val="1D2733"/>
                </a:solidFill>
              </a:rPr>
              <a:t>Adjust order cycles for variability.</a:t>
            </a:r>
            <a:endParaRPr lang="en-US" sz="1150" dirty="0"/>
          </a:p>
          <a:p>
            <a:r>
              <a:rPr lang="en-US" sz="1150" dirty="0">
                <a:solidFill>
                  <a:srgbClr val="1D2733"/>
                </a:solidFill>
              </a:rPr>
              <a:t>Track commit dates versus need-by dates.</a:t>
            </a:r>
            <a:endParaRPr lang="en-US" sz="1150" dirty="0"/>
          </a:p>
          <a:p>
            <a:r>
              <a:rPr lang="en-US" sz="1150" dirty="0">
                <a:solidFill>
                  <a:srgbClr val="1D2733"/>
                </a:solidFill>
              </a:rPr>
              <a:t>Audit supplier performance and escalation discipline.</a:t>
            </a:r>
            <a:endParaRPr lang="en-US" sz="1150" dirty="0"/>
          </a:p>
        </p:txBody>
      </p:sp>
      <p:sp>
        <p:nvSpPr>
          <p:cNvPr id="25" name="Slide Number Placeholder 0"/>
          <p:cNvSpPr>
            <a:spLocks noGrp="1"/>
          </p:cNvSpPr>
          <p:nvPr>
            <p:ph type="sldNum" sz="quarter" idx="4294967295"/>
          </p:nvPr>
        </p:nvSpPr>
        <p:spPr>
          <a:xfrm>
            <a:off x="11109960" y="6547104"/>
            <a:ext cx="502920" cy="146304"/>
          </a:xfrm>
          <a:prstGeom prst="rect">
            <a:avLst/>
          </a:prstGeom>
          <a:extLst>
            <a:ext uri="{C572A759-6A51-4108-AA02-DFA0A04FC94B}">
              <ma14:wrappingTextBoxFlag xmlns:ma14="http://schemas.microsoft.com/office/mac/drawingml/2011/main" xmlns="" val="0"/>
            </a:ext>
          </a:extLst>
        </p:spPr>
        <p:txBody>
          <a:bodyPr/>
          <a:lstStyle>
            <a:lvl1pPr>
              <a:defRPr sz="800">
                <a:solidFill>
                  <a:srgbClr val="7B8491"/>
                </a:solidFill>
                <a:latin typeface="Aptos"/>
                <a:ea typeface="Aptos"/>
                <a:cs typeface="Aptos"/>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1" cy="1"/>
          <a:chOff x="0" y="0"/>
          <a:chExt cx="1" cy="1"/>
        </a:xfrm>
      </p:grpSpPr>
      <p:sp>
        <p:nvSpPr>
          <p:cNvPr id="2" name="Text 0"/>
          <p:cNvSpPr/>
          <p:nvPr/>
        </p:nvSpPr>
        <p:spPr>
          <a:xfrm>
            <a:off x="530352" y="566928"/>
            <a:ext cx="8138160" cy="457200"/>
          </a:xfrm>
          <a:prstGeom prst="rect">
            <a:avLst/>
          </a:prstGeom>
          <a:noFill/>
          <a:ln/>
        </p:spPr>
        <p:txBody>
          <a:bodyPr wrap="square" lIns="0" tIns="0" rIns="0" bIns="0" rtlCol="0" anchor="ctr"/>
          <a:lstStyle/>
          <a:p>
            <a:pPr marL="0" indent="0">
              <a:buNone/>
            </a:pPr>
            <a:r>
              <a:rPr lang="en-US" sz="2800" b="1" dirty="0">
                <a:solidFill>
                  <a:srgbClr val="0B1F3A"/>
                </a:solidFill>
              </a:rPr>
              <a:t>COMP043 risk review</a:t>
            </a:r>
            <a:endParaRPr lang="en-US" sz="2800" dirty="0"/>
          </a:p>
        </p:txBody>
      </p:sp>
      <p:sp>
        <p:nvSpPr>
          <p:cNvPr id="3" name="Text 1"/>
          <p:cNvSpPr/>
          <p:nvPr/>
        </p:nvSpPr>
        <p:spPr>
          <a:xfrm>
            <a:off x="548640" y="1033272"/>
            <a:ext cx="10789920" cy="292608"/>
          </a:xfrm>
          <a:prstGeom prst="rect">
            <a:avLst/>
          </a:prstGeom>
          <a:noFill/>
          <a:ln/>
        </p:spPr>
        <p:txBody>
          <a:bodyPr wrap="square" lIns="0" tIns="0" rIns="0" bIns="0" rtlCol="0" anchor="ctr"/>
          <a:lstStyle/>
          <a:p>
            <a:pPr marL="0" indent="0">
              <a:buNone/>
            </a:pPr>
            <a:r>
              <a:rPr lang="en-US" sz="1300" dirty="0">
                <a:solidFill>
                  <a:srgbClr val="5B6573"/>
                </a:solidFill>
              </a:rPr>
              <a:t>NextGen Pharma | Current risk classification: Medium</a:t>
            </a:r>
            <a:endParaRPr lang="en-US" sz="1300" dirty="0"/>
          </a:p>
        </p:txBody>
      </p:sp>
      <p:pic>
        <p:nvPicPr>
          <p:cNvPr id="4" name="Image 0" descr="/mnt/data/dd56478283.png"/>
          <p:cNvPicPr>
            <a:picLocks noChangeAspect="1"/>
          </p:cNvPicPr>
          <p:nvPr/>
        </p:nvPicPr>
        <p:blipFill>
          <a:blip r:embed="rId3"/>
          <a:stretch>
            <a:fillRect/>
          </a:stretch>
        </p:blipFill>
        <p:spPr>
          <a:xfrm>
            <a:off x="7973568" y="1353312"/>
            <a:ext cx="3584448" cy="2057400"/>
          </a:xfrm>
          <a:prstGeom prst="rect">
            <a:avLst/>
          </a:prstGeom>
        </p:spPr>
      </p:pic>
      <p:sp>
        <p:nvSpPr>
          <p:cNvPr id="5" name="Shape 2"/>
          <p:cNvSpPr/>
          <p:nvPr/>
        </p:nvSpPr>
        <p:spPr>
          <a:xfrm>
            <a:off x="612648" y="1389888"/>
            <a:ext cx="7059168" cy="2011680"/>
          </a:xfrm>
          <a:prstGeom prst="roundRect">
            <a:avLst/>
          </a:prstGeom>
          <a:solidFill>
            <a:srgbClr val="FFFFFF"/>
          </a:solidFill>
          <a:ln w="12700">
            <a:solidFill>
              <a:srgbClr val="DCE2EA"/>
            </a:solidFill>
            <a:prstDash val="solid"/>
          </a:ln>
        </p:spPr>
        <p:txBody>
          <a:bodyPr/>
          <a:lstStyle/>
          <a:p>
            <a:endParaRPr lang="en-US"/>
          </a:p>
        </p:txBody>
      </p:sp>
      <p:sp>
        <p:nvSpPr>
          <p:cNvPr id="6" name="Shape 3"/>
          <p:cNvSpPr/>
          <p:nvPr/>
        </p:nvSpPr>
        <p:spPr>
          <a:xfrm>
            <a:off x="868680" y="1664208"/>
            <a:ext cx="1097280" cy="310896"/>
          </a:xfrm>
          <a:prstGeom prst="roundRect">
            <a:avLst>
              <a:gd name="adj" fmla="val 23529"/>
            </a:avLst>
          </a:prstGeom>
          <a:solidFill>
            <a:srgbClr val="007C83"/>
          </a:solidFill>
          <a:ln w="12700">
            <a:solidFill>
              <a:srgbClr val="007C83"/>
            </a:solidFill>
            <a:prstDash val="solid"/>
          </a:ln>
        </p:spPr>
        <p:txBody>
          <a:bodyPr/>
          <a:lstStyle/>
          <a:p>
            <a:endParaRPr lang="en-US"/>
          </a:p>
        </p:txBody>
      </p:sp>
      <p:sp>
        <p:nvSpPr>
          <p:cNvPr id="7" name="Text 4"/>
          <p:cNvSpPr/>
          <p:nvPr/>
        </p:nvSpPr>
        <p:spPr>
          <a:xfrm>
            <a:off x="941832" y="1719072"/>
            <a:ext cx="950976" cy="182880"/>
          </a:xfrm>
          <a:prstGeom prst="rect">
            <a:avLst/>
          </a:prstGeom>
          <a:noFill/>
          <a:ln/>
        </p:spPr>
        <p:txBody>
          <a:bodyPr wrap="square" lIns="0" tIns="0" rIns="0" bIns="0" rtlCol="0" anchor="ctr"/>
          <a:lstStyle/>
          <a:p>
            <a:pPr marL="0" indent="0" algn="ctr">
              <a:buNone/>
            </a:pPr>
            <a:r>
              <a:rPr lang="en-US" sz="900" b="1" dirty="0">
                <a:solidFill>
                  <a:srgbClr val="FFFFFF"/>
                </a:solidFill>
              </a:rPr>
              <a:t>8 DAYS</a:t>
            </a:r>
            <a:endParaRPr lang="en-US" sz="900" dirty="0"/>
          </a:p>
        </p:txBody>
      </p:sp>
      <p:sp>
        <p:nvSpPr>
          <p:cNvPr id="8" name="Text 5"/>
          <p:cNvSpPr/>
          <p:nvPr/>
        </p:nvSpPr>
        <p:spPr>
          <a:xfrm>
            <a:off x="2176272" y="1682496"/>
            <a:ext cx="731520" cy="201168"/>
          </a:xfrm>
          <a:prstGeom prst="rect">
            <a:avLst/>
          </a:prstGeom>
          <a:noFill/>
          <a:ln/>
        </p:spPr>
        <p:txBody>
          <a:bodyPr wrap="square" lIns="0" tIns="0" rIns="0" bIns="0" rtlCol="0" anchor="ctr"/>
          <a:lstStyle/>
          <a:p>
            <a:pPr marL="0" indent="0">
              <a:buNone/>
            </a:pPr>
            <a:r>
              <a:rPr lang="en-US" sz="1000" b="1" kern="0" spc="100" dirty="0">
                <a:solidFill>
                  <a:srgbClr val="5B6573"/>
                </a:solidFill>
              </a:rPr>
              <a:t>ISSUE</a:t>
            </a:r>
            <a:endParaRPr lang="en-US" sz="1000" dirty="0"/>
          </a:p>
        </p:txBody>
      </p:sp>
      <p:sp>
        <p:nvSpPr>
          <p:cNvPr id="9" name="Text 6"/>
          <p:cNvSpPr/>
          <p:nvPr/>
        </p:nvSpPr>
        <p:spPr>
          <a:xfrm>
            <a:off x="2176272" y="1965960"/>
            <a:ext cx="5047488" cy="1051560"/>
          </a:xfrm>
          <a:prstGeom prst="rect">
            <a:avLst/>
          </a:prstGeom>
          <a:noFill/>
          <a:ln/>
        </p:spPr>
        <p:txBody>
          <a:bodyPr wrap="square" lIns="0" tIns="0" rIns="0" bIns="0" rtlCol="0" anchor="ctr">
            <a:normAutofit/>
          </a:bodyPr>
          <a:lstStyle/>
          <a:p>
            <a:pPr marL="0" indent="0">
              <a:buNone/>
            </a:pPr>
            <a:r>
              <a:rPr lang="en-US" sz="1800" b="1" dirty="0">
                <a:solidFill>
                  <a:srgbClr val="0B1F3A"/>
                </a:solidFill>
              </a:rPr>
              <a:t>Forecasting inaccuracies, inventory-management gaps and supplier communication weaknesses may disrupt production and increase quality or compliance exposure.</a:t>
            </a:r>
            <a:endParaRPr lang="en-US" sz="1800" dirty="0"/>
          </a:p>
        </p:txBody>
      </p:sp>
      <p:sp>
        <p:nvSpPr>
          <p:cNvPr id="10" name="Shape 7"/>
          <p:cNvSpPr/>
          <p:nvPr/>
        </p:nvSpPr>
        <p:spPr>
          <a:xfrm>
            <a:off x="612648" y="3703320"/>
            <a:ext cx="5230368" cy="1691640"/>
          </a:xfrm>
          <a:prstGeom prst="roundRect">
            <a:avLst>
              <a:gd name="adj" fmla="val 4324"/>
            </a:avLst>
          </a:prstGeom>
          <a:solidFill>
            <a:srgbClr val="FFFFFF"/>
          </a:solidFill>
          <a:ln w="12700">
            <a:solidFill>
              <a:srgbClr val="DCE2EA"/>
            </a:solidFill>
            <a:prstDash val="solid"/>
          </a:ln>
        </p:spPr>
        <p:txBody>
          <a:bodyPr/>
          <a:lstStyle/>
          <a:p>
            <a:endParaRPr lang="en-US"/>
          </a:p>
        </p:txBody>
      </p:sp>
      <p:sp>
        <p:nvSpPr>
          <p:cNvPr id="11" name="Shape 8"/>
          <p:cNvSpPr/>
          <p:nvPr/>
        </p:nvSpPr>
        <p:spPr>
          <a:xfrm>
            <a:off x="612648" y="3703320"/>
            <a:ext cx="73152" cy="1691640"/>
          </a:xfrm>
          <a:prstGeom prst="rect">
            <a:avLst/>
          </a:prstGeom>
          <a:solidFill>
            <a:srgbClr val="007C83"/>
          </a:solidFill>
          <a:ln w="12700">
            <a:solidFill>
              <a:srgbClr val="007C83"/>
            </a:solidFill>
            <a:prstDash val="solid"/>
          </a:ln>
        </p:spPr>
        <p:txBody>
          <a:bodyPr/>
          <a:lstStyle/>
          <a:p>
            <a:endParaRPr lang="en-US"/>
          </a:p>
        </p:txBody>
      </p:sp>
      <p:sp>
        <p:nvSpPr>
          <p:cNvPr id="12" name="Text 9"/>
          <p:cNvSpPr/>
          <p:nvPr/>
        </p:nvSpPr>
        <p:spPr>
          <a:xfrm>
            <a:off x="832104" y="3867912"/>
            <a:ext cx="4818888" cy="292608"/>
          </a:xfrm>
          <a:prstGeom prst="rect">
            <a:avLst/>
          </a:prstGeom>
          <a:noFill/>
          <a:ln/>
        </p:spPr>
        <p:txBody>
          <a:bodyPr wrap="square" lIns="0" tIns="0" rIns="0" bIns="0" rtlCol="0" anchor="ctr"/>
          <a:lstStyle/>
          <a:p>
            <a:pPr marL="0" indent="0">
              <a:buNone/>
            </a:pPr>
            <a:r>
              <a:rPr lang="en-US" sz="1600" b="1" dirty="0">
                <a:solidFill>
                  <a:srgbClr val="0B1F3A"/>
                </a:solidFill>
              </a:rPr>
              <a:t>Evidence from current analysis</a:t>
            </a:r>
            <a:endParaRPr lang="en-US" sz="1600" dirty="0"/>
          </a:p>
        </p:txBody>
      </p:sp>
      <p:sp>
        <p:nvSpPr>
          <p:cNvPr id="13" name="Text 10"/>
          <p:cNvSpPr/>
          <p:nvPr/>
        </p:nvSpPr>
        <p:spPr>
          <a:xfrm>
            <a:off x="832104" y="4270248"/>
            <a:ext cx="4818888" cy="996696"/>
          </a:xfrm>
          <a:prstGeom prst="rect">
            <a:avLst/>
          </a:prstGeom>
          <a:noFill/>
          <a:ln/>
        </p:spPr>
        <p:txBody>
          <a:bodyPr wrap="square" lIns="254" tIns="254" rIns="254" bIns="254" rtlCol="0" anchor="ctr">
            <a:normAutofit/>
          </a:bodyPr>
          <a:lstStyle/>
          <a:p>
            <a:r>
              <a:rPr lang="en-US" sz="1150" dirty="0">
                <a:solidFill>
                  <a:srgbClr val="1D2733"/>
                </a:solidFill>
              </a:rPr>
              <a:t>Supplier challenges aligning production schedules with customer demand.</a:t>
            </a:r>
            <a:endParaRPr lang="en-US" sz="1150" dirty="0"/>
          </a:p>
          <a:p>
            <a:r>
              <a:rPr lang="en-US" sz="1150" dirty="0">
                <a:solidFill>
                  <a:srgbClr val="1D2733"/>
                </a:solidFill>
              </a:rPr>
              <a:t>Potential defects increase the need for stronger communication.</a:t>
            </a:r>
            <a:endParaRPr lang="en-US" sz="1150" dirty="0"/>
          </a:p>
        </p:txBody>
      </p:sp>
      <p:sp>
        <p:nvSpPr>
          <p:cNvPr id="14" name="Shape 11"/>
          <p:cNvSpPr/>
          <p:nvPr/>
        </p:nvSpPr>
        <p:spPr>
          <a:xfrm>
            <a:off x="6071616" y="3703320"/>
            <a:ext cx="5468112" cy="1691640"/>
          </a:xfrm>
          <a:prstGeom prst="roundRect">
            <a:avLst>
              <a:gd name="adj" fmla="val 4324"/>
            </a:avLst>
          </a:prstGeom>
          <a:solidFill>
            <a:srgbClr val="FFFFFF"/>
          </a:solidFill>
          <a:ln w="12700">
            <a:solidFill>
              <a:srgbClr val="DCE2EA"/>
            </a:solidFill>
            <a:prstDash val="solid"/>
          </a:ln>
        </p:spPr>
        <p:txBody>
          <a:bodyPr/>
          <a:lstStyle/>
          <a:p>
            <a:endParaRPr lang="en-US"/>
          </a:p>
        </p:txBody>
      </p:sp>
      <p:sp>
        <p:nvSpPr>
          <p:cNvPr id="15" name="Shape 12"/>
          <p:cNvSpPr/>
          <p:nvPr/>
        </p:nvSpPr>
        <p:spPr>
          <a:xfrm>
            <a:off x="6071616" y="3703320"/>
            <a:ext cx="73152" cy="1691640"/>
          </a:xfrm>
          <a:prstGeom prst="rect">
            <a:avLst/>
          </a:prstGeom>
          <a:solidFill>
            <a:srgbClr val="007C83"/>
          </a:solidFill>
          <a:ln w="12700">
            <a:solidFill>
              <a:srgbClr val="007C83"/>
            </a:solidFill>
            <a:prstDash val="solid"/>
          </a:ln>
        </p:spPr>
        <p:txBody>
          <a:bodyPr/>
          <a:lstStyle/>
          <a:p>
            <a:endParaRPr lang="en-US"/>
          </a:p>
        </p:txBody>
      </p:sp>
      <p:sp>
        <p:nvSpPr>
          <p:cNvPr id="16" name="Text 13"/>
          <p:cNvSpPr/>
          <p:nvPr/>
        </p:nvSpPr>
        <p:spPr>
          <a:xfrm>
            <a:off x="6291072" y="3867912"/>
            <a:ext cx="5056632" cy="292608"/>
          </a:xfrm>
          <a:prstGeom prst="rect">
            <a:avLst/>
          </a:prstGeom>
          <a:noFill/>
          <a:ln/>
        </p:spPr>
        <p:txBody>
          <a:bodyPr wrap="square" lIns="0" tIns="0" rIns="0" bIns="0" rtlCol="0" anchor="ctr"/>
          <a:lstStyle/>
          <a:p>
            <a:pPr marL="0" indent="0">
              <a:buNone/>
            </a:pPr>
            <a:r>
              <a:rPr lang="en-US" sz="1600" b="1" dirty="0">
                <a:solidFill>
                  <a:srgbClr val="0B1F3A"/>
                </a:solidFill>
              </a:rPr>
              <a:t>Required actions</a:t>
            </a:r>
            <a:endParaRPr lang="en-US" sz="1600" dirty="0"/>
          </a:p>
        </p:txBody>
      </p:sp>
      <p:sp>
        <p:nvSpPr>
          <p:cNvPr id="17" name="Text 14"/>
          <p:cNvSpPr/>
          <p:nvPr/>
        </p:nvSpPr>
        <p:spPr>
          <a:xfrm>
            <a:off x="6291072" y="4270248"/>
            <a:ext cx="5056632" cy="996696"/>
          </a:xfrm>
          <a:prstGeom prst="rect">
            <a:avLst/>
          </a:prstGeom>
          <a:noFill/>
          <a:ln/>
        </p:spPr>
        <p:txBody>
          <a:bodyPr wrap="square" lIns="254" tIns="254" rIns="254" bIns="254" rtlCol="0" anchor="ctr">
            <a:normAutofit/>
          </a:bodyPr>
          <a:lstStyle/>
          <a:p>
            <a:r>
              <a:rPr lang="en-US" sz="1150" dirty="0">
                <a:solidFill>
                  <a:srgbClr val="1D2733"/>
                </a:solidFill>
              </a:rPr>
              <a:t>Improve forecast accuracy with supplier.</a:t>
            </a:r>
            <a:endParaRPr lang="en-US" sz="1150" dirty="0"/>
          </a:p>
          <a:p>
            <a:r>
              <a:rPr lang="en-US" sz="1150" dirty="0">
                <a:solidFill>
                  <a:srgbClr val="1D2733"/>
                </a:solidFill>
              </a:rPr>
              <a:t>Implement dynamic inventory replenishment.</a:t>
            </a:r>
            <a:endParaRPr lang="en-US" sz="1150" dirty="0"/>
          </a:p>
          <a:p>
            <a:r>
              <a:rPr lang="en-US" sz="1150" dirty="0">
                <a:solidFill>
                  <a:srgbClr val="1D2733"/>
                </a:solidFill>
              </a:rPr>
              <a:t>Strengthen supplier communication and recovery planning.</a:t>
            </a:r>
            <a:endParaRPr lang="en-US" sz="1150" dirty="0"/>
          </a:p>
          <a:p>
            <a:r>
              <a:rPr lang="en-US" sz="1150" dirty="0">
                <a:solidFill>
                  <a:srgbClr val="1D2733"/>
                </a:solidFill>
              </a:rPr>
              <a:t>Monitor defect and inventory trends.</a:t>
            </a:r>
            <a:endParaRPr lang="en-US" sz="1150" dirty="0"/>
          </a:p>
        </p:txBody>
      </p:sp>
      <p:sp>
        <p:nvSpPr>
          <p:cNvPr id="25" name="Slide Number Placeholder 0"/>
          <p:cNvSpPr>
            <a:spLocks noGrp="1"/>
          </p:cNvSpPr>
          <p:nvPr>
            <p:ph type="sldNum" sz="quarter" idx="4294967295"/>
          </p:nvPr>
        </p:nvSpPr>
        <p:spPr>
          <a:xfrm>
            <a:off x="11109960" y="6547104"/>
            <a:ext cx="502920" cy="146304"/>
          </a:xfrm>
          <a:prstGeom prst="rect">
            <a:avLst/>
          </a:prstGeom>
          <a:extLst>
            <a:ext uri="{C572A759-6A51-4108-AA02-DFA0A04FC94B}">
              <ma14:wrappingTextBoxFlag xmlns:ma14="http://schemas.microsoft.com/office/mac/drawingml/2011/main" xmlns="" val="0"/>
            </a:ext>
          </a:extLst>
        </p:spPr>
        <p:txBody>
          <a:bodyPr/>
          <a:lstStyle>
            <a:lvl1pPr>
              <a:defRPr sz="800">
                <a:solidFill>
                  <a:srgbClr val="7B8491"/>
                </a:solidFill>
                <a:latin typeface="Aptos"/>
                <a:ea typeface="Aptos"/>
                <a:cs typeface="Aptos"/>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1" cy="1"/>
          <a:chOff x="0" y="0"/>
          <a:chExt cx="1" cy="1"/>
        </a:xfrm>
      </p:grpSpPr>
      <p:sp>
        <p:nvSpPr>
          <p:cNvPr id="2" name="Text 0"/>
          <p:cNvSpPr/>
          <p:nvPr/>
        </p:nvSpPr>
        <p:spPr>
          <a:xfrm>
            <a:off x="530352" y="566928"/>
            <a:ext cx="8138160" cy="457200"/>
          </a:xfrm>
          <a:prstGeom prst="rect">
            <a:avLst/>
          </a:prstGeom>
          <a:noFill/>
          <a:ln/>
        </p:spPr>
        <p:txBody>
          <a:bodyPr wrap="square" lIns="0" tIns="0" rIns="0" bIns="0" rtlCol="0" anchor="ctr"/>
          <a:lstStyle/>
          <a:p>
            <a:pPr marL="0" indent="0">
              <a:buNone/>
            </a:pPr>
            <a:r>
              <a:rPr lang="en-US" sz="2800" b="1" dirty="0">
                <a:solidFill>
                  <a:srgbClr val="0B1F3A"/>
                </a:solidFill>
              </a:rPr>
              <a:t>Compliance and risk-control plan</a:t>
            </a:r>
            <a:endParaRPr lang="en-US" sz="2800" dirty="0"/>
          </a:p>
        </p:txBody>
      </p:sp>
      <p:sp>
        <p:nvSpPr>
          <p:cNvPr id="3" name="Text 1"/>
          <p:cNvSpPr/>
          <p:nvPr/>
        </p:nvSpPr>
        <p:spPr>
          <a:xfrm>
            <a:off x="548640" y="1033272"/>
            <a:ext cx="10789920" cy="292608"/>
          </a:xfrm>
          <a:prstGeom prst="rect">
            <a:avLst/>
          </a:prstGeom>
          <a:noFill/>
          <a:ln/>
        </p:spPr>
        <p:txBody>
          <a:bodyPr wrap="square" lIns="0" tIns="0" rIns="0" bIns="0" rtlCol="0" anchor="ctr"/>
          <a:lstStyle/>
          <a:p>
            <a:pPr marL="0" indent="0">
              <a:buNone/>
            </a:pPr>
            <a:r>
              <a:rPr lang="en-US" sz="1300" dirty="0">
                <a:solidFill>
                  <a:srgbClr val="5B6573"/>
                </a:solidFill>
              </a:rPr>
              <a:t>Route impacts through established quality, regulatory and supply governance processes.</a:t>
            </a:r>
            <a:endParaRPr lang="en-US" sz="1300" dirty="0"/>
          </a:p>
        </p:txBody>
      </p:sp>
      <p:sp>
        <p:nvSpPr>
          <p:cNvPr id="4" name="Shape 2"/>
          <p:cNvSpPr/>
          <p:nvPr/>
        </p:nvSpPr>
        <p:spPr>
          <a:xfrm>
            <a:off x="1234440" y="1508760"/>
            <a:ext cx="658368" cy="658368"/>
          </a:xfrm>
          <a:prstGeom prst="ellipse">
            <a:avLst/>
          </a:prstGeom>
          <a:solidFill>
            <a:srgbClr val="C8102E"/>
          </a:solidFill>
          <a:ln w="25400">
            <a:solidFill>
              <a:srgbClr val="FFFFFF"/>
            </a:solidFill>
            <a:prstDash val="solid"/>
          </a:ln>
        </p:spPr>
        <p:txBody>
          <a:bodyPr/>
          <a:lstStyle/>
          <a:p>
            <a:endParaRPr lang="en-US"/>
          </a:p>
        </p:txBody>
      </p:sp>
      <p:sp>
        <p:nvSpPr>
          <p:cNvPr id="5" name="Text 3"/>
          <p:cNvSpPr/>
          <p:nvPr/>
        </p:nvSpPr>
        <p:spPr>
          <a:xfrm>
            <a:off x="1234440" y="1682496"/>
            <a:ext cx="658368" cy="182880"/>
          </a:xfrm>
          <a:prstGeom prst="rect">
            <a:avLst/>
          </a:prstGeom>
          <a:noFill/>
          <a:ln/>
        </p:spPr>
        <p:txBody>
          <a:bodyPr wrap="square" lIns="0" tIns="0" rIns="0" bIns="0" rtlCol="0" anchor="ctr"/>
          <a:lstStyle/>
          <a:p>
            <a:pPr marL="0" indent="0" algn="ctr">
              <a:buNone/>
            </a:pPr>
            <a:r>
              <a:rPr lang="en-US" sz="1500" b="1" dirty="0">
                <a:solidFill>
                  <a:srgbClr val="FFFFFF"/>
                </a:solidFill>
              </a:rPr>
              <a:t>1</a:t>
            </a:r>
            <a:endParaRPr lang="en-US" sz="1500" dirty="0"/>
          </a:p>
        </p:txBody>
      </p:sp>
      <p:sp>
        <p:nvSpPr>
          <p:cNvPr id="6" name="Shape 4"/>
          <p:cNvSpPr/>
          <p:nvPr/>
        </p:nvSpPr>
        <p:spPr>
          <a:xfrm>
            <a:off x="2039112" y="1719072"/>
            <a:ext cx="502920" cy="256032"/>
          </a:xfrm>
          <a:prstGeom prst="chevron">
            <a:avLst/>
          </a:prstGeom>
          <a:solidFill>
            <a:srgbClr val="B7C1CD"/>
          </a:solidFill>
          <a:ln w="12700">
            <a:solidFill>
              <a:srgbClr val="B7C1CD"/>
            </a:solidFill>
            <a:prstDash val="solid"/>
          </a:ln>
        </p:spPr>
        <p:txBody>
          <a:bodyPr/>
          <a:lstStyle/>
          <a:p>
            <a:endParaRPr lang="en-US"/>
          </a:p>
        </p:txBody>
      </p:sp>
      <p:sp>
        <p:nvSpPr>
          <p:cNvPr id="7" name="Text 5"/>
          <p:cNvSpPr/>
          <p:nvPr/>
        </p:nvSpPr>
        <p:spPr>
          <a:xfrm>
            <a:off x="822960" y="2331720"/>
            <a:ext cx="1481328" cy="274320"/>
          </a:xfrm>
          <a:prstGeom prst="rect">
            <a:avLst/>
          </a:prstGeom>
          <a:noFill/>
          <a:ln/>
        </p:spPr>
        <p:txBody>
          <a:bodyPr wrap="square" lIns="0" tIns="0" rIns="0" bIns="0" rtlCol="0" anchor="ctr"/>
          <a:lstStyle/>
          <a:p>
            <a:pPr marL="0" indent="0" algn="ctr">
              <a:buNone/>
            </a:pPr>
            <a:r>
              <a:rPr lang="en-US" sz="1500" b="1" dirty="0">
                <a:solidFill>
                  <a:srgbClr val="0B1F3A"/>
                </a:solidFill>
              </a:rPr>
              <a:t>Assess</a:t>
            </a:r>
            <a:endParaRPr lang="en-US" sz="1500" dirty="0"/>
          </a:p>
        </p:txBody>
      </p:sp>
      <p:sp>
        <p:nvSpPr>
          <p:cNvPr id="8" name="Text 6"/>
          <p:cNvSpPr/>
          <p:nvPr/>
        </p:nvSpPr>
        <p:spPr>
          <a:xfrm>
            <a:off x="640080" y="2697480"/>
            <a:ext cx="1901952" cy="868680"/>
          </a:xfrm>
          <a:prstGeom prst="rect">
            <a:avLst/>
          </a:prstGeom>
          <a:noFill/>
          <a:ln/>
        </p:spPr>
        <p:txBody>
          <a:bodyPr wrap="square" lIns="381" tIns="381" rIns="381" bIns="381" rtlCol="0" anchor="ctr">
            <a:normAutofit/>
          </a:bodyPr>
          <a:lstStyle/>
          <a:p>
            <a:pPr marL="0" indent="0" algn="ctr">
              <a:buNone/>
            </a:pPr>
            <a:r>
              <a:rPr lang="en-US" sz="1100" dirty="0">
                <a:solidFill>
                  <a:srgbClr val="5B6573"/>
                </a:solidFill>
              </a:rPr>
              <a:t>Confirm impact, severity and affected operations</a:t>
            </a:r>
            <a:endParaRPr lang="en-US" sz="1100" dirty="0"/>
          </a:p>
        </p:txBody>
      </p:sp>
      <p:sp>
        <p:nvSpPr>
          <p:cNvPr id="9" name="Shape 7"/>
          <p:cNvSpPr/>
          <p:nvPr/>
        </p:nvSpPr>
        <p:spPr>
          <a:xfrm>
            <a:off x="3520440" y="1508760"/>
            <a:ext cx="658368" cy="658368"/>
          </a:xfrm>
          <a:prstGeom prst="ellipse">
            <a:avLst/>
          </a:prstGeom>
          <a:solidFill>
            <a:srgbClr val="C8102E"/>
          </a:solidFill>
          <a:ln w="25400">
            <a:solidFill>
              <a:srgbClr val="FFFFFF"/>
            </a:solidFill>
            <a:prstDash val="solid"/>
          </a:ln>
        </p:spPr>
        <p:txBody>
          <a:bodyPr/>
          <a:lstStyle/>
          <a:p>
            <a:endParaRPr lang="en-US"/>
          </a:p>
        </p:txBody>
      </p:sp>
      <p:sp>
        <p:nvSpPr>
          <p:cNvPr id="10" name="Text 8"/>
          <p:cNvSpPr/>
          <p:nvPr/>
        </p:nvSpPr>
        <p:spPr>
          <a:xfrm>
            <a:off x="3520440" y="1682496"/>
            <a:ext cx="658368" cy="182880"/>
          </a:xfrm>
          <a:prstGeom prst="rect">
            <a:avLst/>
          </a:prstGeom>
          <a:noFill/>
          <a:ln/>
        </p:spPr>
        <p:txBody>
          <a:bodyPr wrap="square" lIns="0" tIns="0" rIns="0" bIns="0" rtlCol="0" anchor="ctr"/>
          <a:lstStyle/>
          <a:p>
            <a:pPr marL="0" indent="0" algn="ctr">
              <a:buNone/>
            </a:pPr>
            <a:r>
              <a:rPr lang="en-US" sz="1500" b="1" dirty="0">
                <a:solidFill>
                  <a:srgbClr val="FFFFFF"/>
                </a:solidFill>
              </a:rPr>
              <a:t>2</a:t>
            </a:r>
            <a:endParaRPr lang="en-US" sz="1500" dirty="0"/>
          </a:p>
        </p:txBody>
      </p:sp>
      <p:sp>
        <p:nvSpPr>
          <p:cNvPr id="11" name="Shape 9"/>
          <p:cNvSpPr/>
          <p:nvPr/>
        </p:nvSpPr>
        <p:spPr>
          <a:xfrm>
            <a:off x="4325112" y="1719072"/>
            <a:ext cx="502920" cy="256032"/>
          </a:xfrm>
          <a:prstGeom prst="chevron">
            <a:avLst/>
          </a:prstGeom>
          <a:solidFill>
            <a:srgbClr val="B7C1CD"/>
          </a:solidFill>
          <a:ln w="12700">
            <a:solidFill>
              <a:srgbClr val="B7C1CD"/>
            </a:solidFill>
            <a:prstDash val="solid"/>
          </a:ln>
        </p:spPr>
        <p:txBody>
          <a:bodyPr/>
          <a:lstStyle/>
          <a:p>
            <a:endParaRPr lang="en-US"/>
          </a:p>
        </p:txBody>
      </p:sp>
      <p:sp>
        <p:nvSpPr>
          <p:cNvPr id="12" name="Text 10"/>
          <p:cNvSpPr/>
          <p:nvPr/>
        </p:nvSpPr>
        <p:spPr>
          <a:xfrm>
            <a:off x="3108960" y="2331720"/>
            <a:ext cx="1481328" cy="274320"/>
          </a:xfrm>
          <a:prstGeom prst="rect">
            <a:avLst/>
          </a:prstGeom>
          <a:noFill/>
          <a:ln/>
        </p:spPr>
        <p:txBody>
          <a:bodyPr wrap="square" lIns="0" tIns="0" rIns="0" bIns="0" rtlCol="0" anchor="ctr"/>
          <a:lstStyle/>
          <a:p>
            <a:pPr marL="0" indent="0" algn="ctr">
              <a:buNone/>
            </a:pPr>
            <a:r>
              <a:rPr lang="en-US" sz="1500" b="1" dirty="0">
                <a:solidFill>
                  <a:srgbClr val="0B1F3A"/>
                </a:solidFill>
              </a:rPr>
              <a:t>Document</a:t>
            </a:r>
            <a:endParaRPr lang="en-US" sz="1500" dirty="0"/>
          </a:p>
        </p:txBody>
      </p:sp>
      <p:sp>
        <p:nvSpPr>
          <p:cNvPr id="13" name="Text 11"/>
          <p:cNvSpPr/>
          <p:nvPr/>
        </p:nvSpPr>
        <p:spPr>
          <a:xfrm>
            <a:off x="2926080" y="2697480"/>
            <a:ext cx="1901952" cy="868680"/>
          </a:xfrm>
          <a:prstGeom prst="rect">
            <a:avLst/>
          </a:prstGeom>
          <a:noFill/>
          <a:ln/>
        </p:spPr>
        <p:txBody>
          <a:bodyPr wrap="square" lIns="381" tIns="381" rIns="381" bIns="381" rtlCol="0" anchor="ctr">
            <a:normAutofit/>
          </a:bodyPr>
          <a:lstStyle/>
          <a:p>
            <a:pPr marL="0" indent="0" algn="ctr">
              <a:buNone/>
            </a:pPr>
            <a:r>
              <a:rPr lang="en-US" sz="1100" dirty="0">
                <a:solidFill>
                  <a:srgbClr val="5B6573"/>
                </a:solidFill>
              </a:rPr>
              <a:t>Record evidence, decisions and traceability</a:t>
            </a:r>
            <a:endParaRPr lang="en-US" sz="1100" dirty="0"/>
          </a:p>
        </p:txBody>
      </p:sp>
      <p:sp>
        <p:nvSpPr>
          <p:cNvPr id="14" name="Shape 12"/>
          <p:cNvSpPr/>
          <p:nvPr/>
        </p:nvSpPr>
        <p:spPr>
          <a:xfrm>
            <a:off x="5806440" y="1508760"/>
            <a:ext cx="658368" cy="658368"/>
          </a:xfrm>
          <a:prstGeom prst="ellipse">
            <a:avLst/>
          </a:prstGeom>
          <a:solidFill>
            <a:srgbClr val="E59E2F"/>
          </a:solidFill>
          <a:ln w="25400">
            <a:solidFill>
              <a:srgbClr val="FFFFFF"/>
            </a:solidFill>
            <a:prstDash val="solid"/>
          </a:ln>
        </p:spPr>
        <p:txBody>
          <a:bodyPr/>
          <a:lstStyle/>
          <a:p>
            <a:endParaRPr lang="en-US"/>
          </a:p>
        </p:txBody>
      </p:sp>
      <p:sp>
        <p:nvSpPr>
          <p:cNvPr id="15" name="Text 13"/>
          <p:cNvSpPr/>
          <p:nvPr/>
        </p:nvSpPr>
        <p:spPr>
          <a:xfrm>
            <a:off x="5806440" y="1682496"/>
            <a:ext cx="658368" cy="182880"/>
          </a:xfrm>
          <a:prstGeom prst="rect">
            <a:avLst/>
          </a:prstGeom>
          <a:noFill/>
          <a:ln/>
        </p:spPr>
        <p:txBody>
          <a:bodyPr wrap="square" lIns="0" tIns="0" rIns="0" bIns="0" rtlCol="0" anchor="ctr"/>
          <a:lstStyle/>
          <a:p>
            <a:pPr marL="0" indent="0" algn="ctr">
              <a:buNone/>
            </a:pPr>
            <a:r>
              <a:rPr lang="en-US" sz="1500" b="1" dirty="0">
                <a:solidFill>
                  <a:srgbClr val="FFFFFF"/>
                </a:solidFill>
              </a:rPr>
              <a:t>3</a:t>
            </a:r>
            <a:endParaRPr lang="en-US" sz="1500" dirty="0"/>
          </a:p>
        </p:txBody>
      </p:sp>
      <p:sp>
        <p:nvSpPr>
          <p:cNvPr id="16" name="Shape 14"/>
          <p:cNvSpPr/>
          <p:nvPr/>
        </p:nvSpPr>
        <p:spPr>
          <a:xfrm>
            <a:off x="6611112" y="1719072"/>
            <a:ext cx="502920" cy="256032"/>
          </a:xfrm>
          <a:prstGeom prst="chevron">
            <a:avLst/>
          </a:prstGeom>
          <a:solidFill>
            <a:srgbClr val="B7C1CD"/>
          </a:solidFill>
          <a:ln w="12700">
            <a:solidFill>
              <a:srgbClr val="B7C1CD"/>
            </a:solidFill>
            <a:prstDash val="solid"/>
          </a:ln>
        </p:spPr>
        <p:txBody>
          <a:bodyPr/>
          <a:lstStyle/>
          <a:p>
            <a:endParaRPr lang="en-US"/>
          </a:p>
        </p:txBody>
      </p:sp>
      <p:sp>
        <p:nvSpPr>
          <p:cNvPr id="17" name="Text 15"/>
          <p:cNvSpPr/>
          <p:nvPr/>
        </p:nvSpPr>
        <p:spPr>
          <a:xfrm>
            <a:off x="5394960" y="2331720"/>
            <a:ext cx="1481328" cy="274320"/>
          </a:xfrm>
          <a:prstGeom prst="rect">
            <a:avLst/>
          </a:prstGeom>
          <a:noFill/>
          <a:ln/>
        </p:spPr>
        <p:txBody>
          <a:bodyPr wrap="square" lIns="0" tIns="0" rIns="0" bIns="0" rtlCol="0" anchor="ctr"/>
          <a:lstStyle/>
          <a:p>
            <a:pPr marL="0" indent="0" algn="ctr">
              <a:buNone/>
            </a:pPr>
            <a:r>
              <a:rPr lang="en-US" sz="1500" b="1" dirty="0">
                <a:solidFill>
                  <a:srgbClr val="0B1F3A"/>
                </a:solidFill>
              </a:rPr>
              <a:t>Govern</a:t>
            </a:r>
            <a:endParaRPr lang="en-US" sz="1500" dirty="0"/>
          </a:p>
        </p:txBody>
      </p:sp>
      <p:sp>
        <p:nvSpPr>
          <p:cNvPr id="18" name="Text 16"/>
          <p:cNvSpPr/>
          <p:nvPr/>
        </p:nvSpPr>
        <p:spPr>
          <a:xfrm>
            <a:off x="5212080" y="2697480"/>
            <a:ext cx="1901952" cy="868680"/>
          </a:xfrm>
          <a:prstGeom prst="rect">
            <a:avLst/>
          </a:prstGeom>
          <a:noFill/>
          <a:ln/>
        </p:spPr>
        <p:txBody>
          <a:bodyPr wrap="square" lIns="381" tIns="381" rIns="381" bIns="381" rtlCol="0" anchor="ctr">
            <a:normAutofit/>
          </a:bodyPr>
          <a:lstStyle/>
          <a:p>
            <a:pPr marL="0" indent="0" algn="ctr">
              <a:buNone/>
            </a:pPr>
            <a:r>
              <a:rPr lang="en-US" sz="1100" dirty="0">
                <a:solidFill>
                  <a:srgbClr val="5B6573"/>
                </a:solidFill>
              </a:rPr>
              <a:t>Determine investigation, CAPA or change-control needs</a:t>
            </a:r>
            <a:endParaRPr lang="en-US" sz="1100" dirty="0"/>
          </a:p>
        </p:txBody>
      </p:sp>
      <p:sp>
        <p:nvSpPr>
          <p:cNvPr id="19" name="Shape 17"/>
          <p:cNvSpPr/>
          <p:nvPr/>
        </p:nvSpPr>
        <p:spPr>
          <a:xfrm>
            <a:off x="8092440" y="1508760"/>
            <a:ext cx="658368" cy="658368"/>
          </a:xfrm>
          <a:prstGeom prst="ellipse">
            <a:avLst/>
          </a:prstGeom>
          <a:solidFill>
            <a:srgbClr val="007C83"/>
          </a:solidFill>
          <a:ln w="25400">
            <a:solidFill>
              <a:srgbClr val="FFFFFF"/>
            </a:solidFill>
            <a:prstDash val="solid"/>
          </a:ln>
        </p:spPr>
        <p:txBody>
          <a:bodyPr/>
          <a:lstStyle/>
          <a:p>
            <a:endParaRPr lang="en-US"/>
          </a:p>
        </p:txBody>
      </p:sp>
      <p:sp>
        <p:nvSpPr>
          <p:cNvPr id="20" name="Text 18"/>
          <p:cNvSpPr/>
          <p:nvPr/>
        </p:nvSpPr>
        <p:spPr>
          <a:xfrm>
            <a:off x="8092440" y="1682496"/>
            <a:ext cx="658368" cy="182880"/>
          </a:xfrm>
          <a:prstGeom prst="rect">
            <a:avLst/>
          </a:prstGeom>
          <a:noFill/>
          <a:ln/>
        </p:spPr>
        <p:txBody>
          <a:bodyPr wrap="square" lIns="0" tIns="0" rIns="0" bIns="0" rtlCol="0" anchor="ctr"/>
          <a:lstStyle/>
          <a:p>
            <a:pPr marL="0" indent="0" algn="ctr">
              <a:buNone/>
            </a:pPr>
            <a:r>
              <a:rPr lang="en-US" sz="1500" b="1" dirty="0">
                <a:solidFill>
                  <a:srgbClr val="FFFFFF"/>
                </a:solidFill>
              </a:rPr>
              <a:t>4</a:t>
            </a:r>
            <a:endParaRPr lang="en-US" sz="1500" dirty="0"/>
          </a:p>
        </p:txBody>
      </p:sp>
      <p:sp>
        <p:nvSpPr>
          <p:cNvPr id="21" name="Shape 19"/>
          <p:cNvSpPr/>
          <p:nvPr/>
        </p:nvSpPr>
        <p:spPr>
          <a:xfrm>
            <a:off x="8897112" y="1719072"/>
            <a:ext cx="502920" cy="256032"/>
          </a:xfrm>
          <a:prstGeom prst="chevron">
            <a:avLst/>
          </a:prstGeom>
          <a:solidFill>
            <a:srgbClr val="B7C1CD"/>
          </a:solidFill>
          <a:ln w="12700">
            <a:solidFill>
              <a:srgbClr val="B7C1CD"/>
            </a:solidFill>
            <a:prstDash val="solid"/>
          </a:ln>
        </p:spPr>
        <p:txBody>
          <a:bodyPr/>
          <a:lstStyle/>
          <a:p>
            <a:endParaRPr lang="en-US"/>
          </a:p>
        </p:txBody>
      </p:sp>
      <p:sp>
        <p:nvSpPr>
          <p:cNvPr id="22" name="Text 20"/>
          <p:cNvSpPr/>
          <p:nvPr/>
        </p:nvSpPr>
        <p:spPr>
          <a:xfrm>
            <a:off x="7680960" y="2331720"/>
            <a:ext cx="1481328" cy="274320"/>
          </a:xfrm>
          <a:prstGeom prst="rect">
            <a:avLst/>
          </a:prstGeom>
          <a:noFill/>
          <a:ln/>
        </p:spPr>
        <p:txBody>
          <a:bodyPr wrap="square" lIns="0" tIns="0" rIns="0" bIns="0" rtlCol="0" anchor="ctr"/>
          <a:lstStyle/>
          <a:p>
            <a:pPr marL="0" indent="0" algn="ctr">
              <a:buNone/>
            </a:pPr>
            <a:r>
              <a:rPr lang="en-US" sz="1500" b="1" dirty="0">
                <a:solidFill>
                  <a:srgbClr val="0B1F3A"/>
                </a:solidFill>
              </a:rPr>
              <a:t>Mitigate</a:t>
            </a:r>
            <a:endParaRPr lang="en-US" sz="1500" dirty="0"/>
          </a:p>
        </p:txBody>
      </p:sp>
      <p:sp>
        <p:nvSpPr>
          <p:cNvPr id="23" name="Text 21"/>
          <p:cNvSpPr/>
          <p:nvPr/>
        </p:nvSpPr>
        <p:spPr>
          <a:xfrm>
            <a:off x="7498080" y="2697480"/>
            <a:ext cx="1901952" cy="868680"/>
          </a:xfrm>
          <a:prstGeom prst="rect">
            <a:avLst/>
          </a:prstGeom>
          <a:noFill/>
          <a:ln/>
        </p:spPr>
        <p:txBody>
          <a:bodyPr wrap="square" lIns="381" tIns="381" rIns="381" bIns="381" rtlCol="0" anchor="ctr">
            <a:normAutofit/>
          </a:bodyPr>
          <a:lstStyle/>
          <a:p>
            <a:pPr marL="0" indent="0" algn="ctr">
              <a:buNone/>
            </a:pPr>
            <a:r>
              <a:rPr lang="en-US" sz="1100" dirty="0">
                <a:solidFill>
                  <a:srgbClr val="5B6573"/>
                </a:solidFill>
              </a:rPr>
              <a:t>Execute supply, inventory and supplier actions</a:t>
            </a:r>
            <a:endParaRPr lang="en-US" sz="1100" dirty="0"/>
          </a:p>
        </p:txBody>
      </p:sp>
      <p:sp>
        <p:nvSpPr>
          <p:cNvPr id="24" name="Shape 22"/>
          <p:cNvSpPr/>
          <p:nvPr/>
        </p:nvSpPr>
        <p:spPr>
          <a:xfrm>
            <a:off x="10378440" y="1508760"/>
            <a:ext cx="658368" cy="658368"/>
          </a:xfrm>
          <a:prstGeom prst="ellipse">
            <a:avLst/>
          </a:prstGeom>
          <a:solidFill>
            <a:srgbClr val="007C83"/>
          </a:solidFill>
          <a:ln w="25400">
            <a:solidFill>
              <a:srgbClr val="FFFFFF"/>
            </a:solidFill>
            <a:prstDash val="solid"/>
          </a:ln>
        </p:spPr>
        <p:txBody>
          <a:bodyPr/>
          <a:lstStyle/>
          <a:p>
            <a:endParaRPr lang="en-US"/>
          </a:p>
        </p:txBody>
      </p:sp>
      <p:sp>
        <p:nvSpPr>
          <p:cNvPr id="25" name="Text 23"/>
          <p:cNvSpPr/>
          <p:nvPr/>
        </p:nvSpPr>
        <p:spPr>
          <a:xfrm>
            <a:off x="10378440" y="1682496"/>
            <a:ext cx="658368" cy="182880"/>
          </a:xfrm>
          <a:prstGeom prst="rect">
            <a:avLst/>
          </a:prstGeom>
          <a:noFill/>
          <a:ln/>
        </p:spPr>
        <p:txBody>
          <a:bodyPr wrap="square" lIns="0" tIns="0" rIns="0" bIns="0" rtlCol="0" anchor="ctr"/>
          <a:lstStyle/>
          <a:p>
            <a:pPr marL="0" indent="0" algn="ctr">
              <a:buNone/>
            </a:pPr>
            <a:r>
              <a:rPr lang="en-US" sz="1500" b="1" dirty="0">
                <a:solidFill>
                  <a:srgbClr val="FFFFFF"/>
                </a:solidFill>
              </a:rPr>
              <a:t>5</a:t>
            </a:r>
            <a:endParaRPr lang="en-US" sz="1500" dirty="0"/>
          </a:p>
        </p:txBody>
      </p:sp>
      <p:sp>
        <p:nvSpPr>
          <p:cNvPr id="26" name="Text 24"/>
          <p:cNvSpPr/>
          <p:nvPr/>
        </p:nvSpPr>
        <p:spPr>
          <a:xfrm>
            <a:off x="9966960" y="2331720"/>
            <a:ext cx="1481328" cy="274320"/>
          </a:xfrm>
          <a:prstGeom prst="rect">
            <a:avLst/>
          </a:prstGeom>
          <a:noFill/>
          <a:ln/>
        </p:spPr>
        <p:txBody>
          <a:bodyPr wrap="square" lIns="0" tIns="0" rIns="0" bIns="0" rtlCol="0" anchor="ctr"/>
          <a:lstStyle/>
          <a:p>
            <a:pPr marL="0" indent="0" algn="ctr">
              <a:buNone/>
            </a:pPr>
            <a:r>
              <a:rPr lang="en-US" sz="1500" b="1" dirty="0">
                <a:solidFill>
                  <a:srgbClr val="0B1F3A"/>
                </a:solidFill>
              </a:rPr>
              <a:t>Verify</a:t>
            </a:r>
            <a:endParaRPr lang="en-US" sz="1500" dirty="0"/>
          </a:p>
        </p:txBody>
      </p:sp>
      <p:sp>
        <p:nvSpPr>
          <p:cNvPr id="27" name="Text 25"/>
          <p:cNvSpPr/>
          <p:nvPr/>
        </p:nvSpPr>
        <p:spPr>
          <a:xfrm>
            <a:off x="9784080" y="2697480"/>
            <a:ext cx="1901952" cy="868680"/>
          </a:xfrm>
          <a:prstGeom prst="rect">
            <a:avLst/>
          </a:prstGeom>
          <a:noFill/>
          <a:ln/>
        </p:spPr>
        <p:txBody>
          <a:bodyPr wrap="square" lIns="381" tIns="381" rIns="381" bIns="381" rtlCol="0" anchor="ctr">
            <a:normAutofit/>
          </a:bodyPr>
          <a:lstStyle/>
          <a:p>
            <a:pPr marL="0" indent="0" algn="ctr">
              <a:buNone/>
            </a:pPr>
            <a:r>
              <a:rPr lang="en-US" sz="1100" dirty="0">
                <a:solidFill>
                  <a:srgbClr val="5B6573"/>
                </a:solidFill>
              </a:rPr>
              <a:t>Demonstrate sustained control through metrics</a:t>
            </a:r>
            <a:endParaRPr lang="en-US" sz="1100" dirty="0"/>
          </a:p>
        </p:txBody>
      </p:sp>
      <p:sp>
        <p:nvSpPr>
          <p:cNvPr id="28" name="Shape 26"/>
          <p:cNvSpPr/>
          <p:nvPr/>
        </p:nvSpPr>
        <p:spPr>
          <a:xfrm>
            <a:off x="685800" y="4160520"/>
            <a:ext cx="10972800" cy="1143000"/>
          </a:xfrm>
          <a:prstGeom prst="roundRect">
            <a:avLst/>
          </a:prstGeom>
          <a:solidFill>
            <a:srgbClr val="FFF5E6"/>
          </a:solidFill>
          <a:ln w="12700">
            <a:solidFill>
              <a:srgbClr val="F0C779"/>
            </a:solidFill>
            <a:prstDash val="solid"/>
          </a:ln>
        </p:spPr>
        <p:txBody>
          <a:bodyPr/>
          <a:lstStyle/>
          <a:p>
            <a:endParaRPr lang="en-US"/>
          </a:p>
        </p:txBody>
      </p:sp>
      <p:sp>
        <p:nvSpPr>
          <p:cNvPr id="29" name="Text 27"/>
          <p:cNvSpPr/>
          <p:nvPr/>
        </p:nvSpPr>
        <p:spPr>
          <a:xfrm>
            <a:off x="960120" y="4443984"/>
            <a:ext cx="2194560" cy="274320"/>
          </a:xfrm>
          <a:prstGeom prst="rect">
            <a:avLst/>
          </a:prstGeom>
          <a:noFill/>
          <a:ln/>
        </p:spPr>
        <p:txBody>
          <a:bodyPr wrap="square" lIns="0" tIns="0" rIns="0" bIns="0" rtlCol="0" anchor="ctr"/>
          <a:lstStyle/>
          <a:p>
            <a:pPr marL="0" indent="0">
              <a:buNone/>
            </a:pPr>
            <a:r>
              <a:rPr lang="en-US" sz="1700" b="1" dirty="0">
                <a:solidFill>
                  <a:srgbClr val="8A5B00"/>
                </a:solidFill>
              </a:rPr>
              <a:t>Compliance decision points</a:t>
            </a:r>
            <a:endParaRPr lang="en-US" sz="1700" dirty="0"/>
          </a:p>
        </p:txBody>
      </p:sp>
      <p:sp>
        <p:nvSpPr>
          <p:cNvPr id="30" name="Text 28"/>
          <p:cNvSpPr/>
          <p:nvPr/>
        </p:nvSpPr>
        <p:spPr>
          <a:xfrm>
            <a:off x="3063240" y="4315968"/>
            <a:ext cx="8046720" cy="594360"/>
          </a:xfrm>
          <a:prstGeom prst="rect">
            <a:avLst/>
          </a:prstGeom>
          <a:noFill/>
          <a:ln/>
        </p:spPr>
        <p:txBody>
          <a:bodyPr wrap="square" lIns="0" tIns="0" rIns="0" bIns="0" rtlCol="0" anchor="ctr">
            <a:normAutofit/>
          </a:bodyPr>
          <a:lstStyle/>
          <a:p>
            <a:pPr marL="0" indent="0">
              <a:buNone/>
            </a:pPr>
            <a:r>
              <a:rPr lang="en-US" sz="1400" dirty="0">
                <a:solidFill>
                  <a:srgbClr val="1D2733"/>
                </a:solidFill>
              </a:rPr>
              <a:t>Determine whether the issue requires a formal investigation, CAPA, change control, supplier remediation, contingency action or other governance response. Evidence should include business impact, owner, due date and closure criteria.</a:t>
            </a:r>
            <a:endParaRPr lang="en-US" sz="1400" dirty="0"/>
          </a:p>
        </p:txBody>
      </p:sp>
      <p:sp>
        <p:nvSpPr>
          <p:cNvPr id="31" name="Slide Number Placeholder 0"/>
          <p:cNvSpPr>
            <a:spLocks noGrp="1"/>
          </p:cNvSpPr>
          <p:nvPr>
            <p:ph type="sldNum" sz="quarter" idx="4294967295"/>
          </p:nvPr>
        </p:nvSpPr>
        <p:spPr>
          <a:xfrm>
            <a:off x="11109960" y="6547104"/>
            <a:ext cx="502920" cy="146304"/>
          </a:xfrm>
          <a:prstGeom prst="rect">
            <a:avLst/>
          </a:prstGeom>
          <a:extLst>
            <a:ext uri="{C572A759-6A51-4108-AA02-DFA0A04FC94B}">
              <ma14:wrappingTextBoxFlag xmlns:ma14="http://schemas.microsoft.com/office/mac/drawingml/2011/main" xmlns="" val="0"/>
            </a:ext>
          </a:extLst>
        </p:spPr>
        <p:txBody>
          <a:bodyPr/>
          <a:lstStyle>
            <a:lvl1pPr>
              <a:defRPr sz="800">
                <a:solidFill>
                  <a:srgbClr val="7B8491"/>
                </a:solidFill>
                <a:latin typeface="Aptos"/>
                <a:ea typeface="Aptos"/>
                <a:cs typeface="Aptos"/>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1" cy="1"/>
          <a:chOff x="0" y="0"/>
          <a:chExt cx="1" cy="1"/>
        </a:xfrm>
      </p:grpSpPr>
      <p:sp>
        <p:nvSpPr>
          <p:cNvPr id="2" name="Text 0"/>
          <p:cNvSpPr/>
          <p:nvPr/>
        </p:nvSpPr>
        <p:spPr>
          <a:xfrm>
            <a:off x="530352" y="566928"/>
            <a:ext cx="8138160" cy="457200"/>
          </a:xfrm>
          <a:prstGeom prst="rect">
            <a:avLst/>
          </a:prstGeom>
          <a:noFill/>
          <a:ln/>
        </p:spPr>
        <p:txBody>
          <a:bodyPr wrap="square" lIns="0" tIns="0" rIns="0" bIns="0" rtlCol="0" anchor="ctr"/>
          <a:lstStyle/>
          <a:p>
            <a:pPr marL="0" indent="0">
              <a:buNone/>
            </a:pPr>
            <a:r>
              <a:rPr lang="en-US" sz="2800" b="1" dirty="0">
                <a:solidFill>
                  <a:srgbClr val="0B1F3A"/>
                </a:solidFill>
              </a:rPr>
              <a:t>90-day action plan and management cadence</a:t>
            </a:r>
            <a:endParaRPr lang="en-US" sz="2800" dirty="0"/>
          </a:p>
        </p:txBody>
      </p:sp>
      <p:sp>
        <p:nvSpPr>
          <p:cNvPr id="3" name="Text 1"/>
          <p:cNvSpPr/>
          <p:nvPr/>
        </p:nvSpPr>
        <p:spPr>
          <a:xfrm>
            <a:off x="548640" y="1033272"/>
            <a:ext cx="10789920" cy="292608"/>
          </a:xfrm>
          <a:prstGeom prst="rect">
            <a:avLst/>
          </a:prstGeom>
          <a:noFill/>
          <a:ln/>
        </p:spPr>
        <p:txBody>
          <a:bodyPr wrap="square" lIns="0" tIns="0" rIns="0" bIns="0" rtlCol="0" anchor="ctr"/>
          <a:lstStyle/>
          <a:p>
            <a:pPr marL="0" indent="0">
              <a:buNone/>
            </a:pPr>
            <a:r>
              <a:rPr lang="en-US" sz="1300" dirty="0">
                <a:solidFill>
                  <a:srgbClr val="5B6573"/>
                </a:solidFill>
              </a:rPr>
              <a:t>Move from immediate containment to measurable supplier recovery and resilient supply.</a:t>
            </a:r>
            <a:endParaRPr lang="en-US" sz="1300" dirty="0"/>
          </a:p>
        </p:txBody>
      </p:sp>
      <p:sp>
        <p:nvSpPr>
          <p:cNvPr id="4" name="Shape 2"/>
          <p:cNvSpPr/>
          <p:nvPr/>
        </p:nvSpPr>
        <p:spPr>
          <a:xfrm>
            <a:off x="621792" y="1417320"/>
            <a:ext cx="3401568" cy="3063240"/>
          </a:xfrm>
          <a:prstGeom prst="roundRect">
            <a:avLst/>
          </a:prstGeom>
          <a:solidFill>
            <a:srgbClr val="FFFFFF"/>
          </a:solidFill>
          <a:ln w="12700">
            <a:solidFill>
              <a:srgbClr val="D9DEE6"/>
            </a:solidFill>
            <a:prstDash val="solid"/>
          </a:ln>
        </p:spPr>
        <p:txBody>
          <a:bodyPr/>
          <a:lstStyle/>
          <a:p>
            <a:endParaRPr lang="en-US"/>
          </a:p>
        </p:txBody>
      </p:sp>
      <p:sp>
        <p:nvSpPr>
          <p:cNvPr id="5" name="Shape 3"/>
          <p:cNvSpPr/>
          <p:nvPr/>
        </p:nvSpPr>
        <p:spPr>
          <a:xfrm>
            <a:off x="621792" y="1417320"/>
            <a:ext cx="3401568" cy="530352"/>
          </a:xfrm>
          <a:prstGeom prst="rect">
            <a:avLst/>
          </a:prstGeom>
          <a:solidFill>
            <a:srgbClr val="C8102E"/>
          </a:solidFill>
          <a:ln w="12700">
            <a:solidFill>
              <a:srgbClr val="C8102E"/>
            </a:solidFill>
            <a:prstDash val="solid"/>
          </a:ln>
        </p:spPr>
        <p:txBody>
          <a:bodyPr/>
          <a:lstStyle/>
          <a:p>
            <a:endParaRPr lang="en-US"/>
          </a:p>
        </p:txBody>
      </p:sp>
      <p:sp>
        <p:nvSpPr>
          <p:cNvPr id="6" name="Text 4"/>
          <p:cNvSpPr/>
          <p:nvPr/>
        </p:nvSpPr>
        <p:spPr>
          <a:xfrm>
            <a:off x="786384" y="1581912"/>
            <a:ext cx="3072384" cy="201168"/>
          </a:xfrm>
          <a:prstGeom prst="rect">
            <a:avLst/>
          </a:prstGeom>
          <a:noFill/>
          <a:ln/>
        </p:spPr>
        <p:txBody>
          <a:bodyPr wrap="square" lIns="0" tIns="0" rIns="0" bIns="0" rtlCol="0" anchor="ctr"/>
          <a:lstStyle/>
          <a:p>
            <a:pPr marL="0" indent="0" algn="ctr">
              <a:buNone/>
            </a:pPr>
            <a:r>
              <a:rPr lang="en-US" sz="1100" b="1" dirty="0">
                <a:solidFill>
                  <a:srgbClr val="FFFFFF"/>
                </a:solidFill>
              </a:rPr>
              <a:t>IMMEDIATE • 0–1 WEEK</a:t>
            </a:r>
            <a:endParaRPr lang="en-US" sz="1100" dirty="0"/>
          </a:p>
        </p:txBody>
      </p:sp>
      <p:sp>
        <p:nvSpPr>
          <p:cNvPr id="7" name="Text 5"/>
          <p:cNvSpPr/>
          <p:nvPr/>
        </p:nvSpPr>
        <p:spPr>
          <a:xfrm>
            <a:off x="859536" y="2240280"/>
            <a:ext cx="2926080" cy="1783080"/>
          </a:xfrm>
          <a:prstGeom prst="rect">
            <a:avLst/>
          </a:prstGeom>
          <a:noFill/>
          <a:ln/>
        </p:spPr>
        <p:txBody>
          <a:bodyPr wrap="square" lIns="254" tIns="254" rIns="254" bIns="254" rtlCol="0" anchor="ctr">
            <a:normAutofit/>
          </a:bodyPr>
          <a:lstStyle/>
          <a:p>
            <a:pPr marL="177800" indent="-177800">
              <a:buSzPct val="100000"/>
              <a:buChar char="•"/>
            </a:pPr>
            <a:r>
              <a:rPr lang="en-US" sz="1300" dirty="0">
                <a:solidFill>
                  <a:srgbClr val="1D2733"/>
                </a:solidFill>
              </a:rPr>
              <a:t>Notify suppliers and request expedited options</a:t>
            </a:r>
            <a:endParaRPr lang="en-US" sz="1300" dirty="0"/>
          </a:p>
          <a:p>
            <a:pPr marL="177800" indent="-177800">
              <a:buSzPct val="100000"/>
              <a:buChar char="•"/>
            </a:pPr>
            <a:r>
              <a:rPr lang="en-US" sz="1300" dirty="0">
                <a:solidFill>
                  <a:srgbClr val="1D2733"/>
                </a:solidFill>
              </a:rPr>
              <a:t>Rapidly assess alternative suppliers</a:t>
            </a:r>
            <a:endParaRPr lang="en-US" sz="1300" dirty="0"/>
          </a:p>
          <a:p>
            <a:pPr marL="177800" indent="-177800">
              <a:buSzPct val="100000"/>
              <a:buChar char="•"/>
            </a:pPr>
            <a:r>
              <a:rPr lang="en-US" sz="1300" dirty="0">
                <a:solidFill>
                  <a:srgbClr val="1D2733"/>
                </a:solidFill>
              </a:rPr>
              <a:t>Adjust production schedules within compliance windows</a:t>
            </a:r>
            <a:endParaRPr lang="en-US" sz="1300" dirty="0"/>
          </a:p>
          <a:p>
            <a:pPr marL="177800" indent="-177800">
              <a:buSzPct val="100000"/>
              <a:buChar char="•"/>
            </a:pPr>
            <a:r>
              <a:rPr lang="en-US" sz="1300" dirty="0">
                <a:solidFill>
                  <a:srgbClr val="1D2733"/>
                </a:solidFill>
              </a:rPr>
              <a:t>Confirm owner, severity and escalation threshold</a:t>
            </a:r>
            <a:endParaRPr lang="en-US" sz="1300" dirty="0"/>
          </a:p>
        </p:txBody>
      </p:sp>
      <p:sp>
        <p:nvSpPr>
          <p:cNvPr id="8" name="Shape 6"/>
          <p:cNvSpPr/>
          <p:nvPr/>
        </p:nvSpPr>
        <p:spPr>
          <a:xfrm>
            <a:off x="4389120" y="1417320"/>
            <a:ext cx="3401568" cy="3063240"/>
          </a:xfrm>
          <a:prstGeom prst="roundRect">
            <a:avLst/>
          </a:prstGeom>
          <a:solidFill>
            <a:srgbClr val="FFFFFF"/>
          </a:solidFill>
          <a:ln w="12700">
            <a:solidFill>
              <a:srgbClr val="D9DEE6"/>
            </a:solidFill>
            <a:prstDash val="solid"/>
          </a:ln>
        </p:spPr>
        <p:txBody>
          <a:bodyPr/>
          <a:lstStyle/>
          <a:p>
            <a:endParaRPr lang="en-US"/>
          </a:p>
        </p:txBody>
      </p:sp>
      <p:sp>
        <p:nvSpPr>
          <p:cNvPr id="9" name="Shape 7"/>
          <p:cNvSpPr/>
          <p:nvPr/>
        </p:nvSpPr>
        <p:spPr>
          <a:xfrm>
            <a:off x="4389120" y="1417320"/>
            <a:ext cx="3401568" cy="530352"/>
          </a:xfrm>
          <a:prstGeom prst="rect">
            <a:avLst/>
          </a:prstGeom>
          <a:solidFill>
            <a:srgbClr val="E59E2F"/>
          </a:solidFill>
          <a:ln w="12700">
            <a:solidFill>
              <a:srgbClr val="E59E2F"/>
            </a:solidFill>
            <a:prstDash val="solid"/>
          </a:ln>
        </p:spPr>
        <p:txBody>
          <a:bodyPr/>
          <a:lstStyle/>
          <a:p>
            <a:endParaRPr lang="en-US"/>
          </a:p>
        </p:txBody>
      </p:sp>
      <p:sp>
        <p:nvSpPr>
          <p:cNvPr id="10" name="Text 8"/>
          <p:cNvSpPr/>
          <p:nvPr/>
        </p:nvSpPr>
        <p:spPr>
          <a:xfrm>
            <a:off x="4553712" y="1581912"/>
            <a:ext cx="3072384" cy="201168"/>
          </a:xfrm>
          <a:prstGeom prst="rect">
            <a:avLst/>
          </a:prstGeom>
          <a:noFill/>
          <a:ln/>
        </p:spPr>
        <p:txBody>
          <a:bodyPr wrap="square" lIns="0" tIns="0" rIns="0" bIns="0" rtlCol="0" anchor="ctr"/>
          <a:lstStyle/>
          <a:p>
            <a:pPr marL="0" indent="0" algn="ctr">
              <a:buNone/>
            </a:pPr>
            <a:r>
              <a:rPr lang="en-US" sz="1100" b="1" dirty="0">
                <a:solidFill>
                  <a:srgbClr val="FFFFFF"/>
                </a:solidFill>
              </a:rPr>
              <a:t>SHORT TERM • 1–3 WEEKS</a:t>
            </a:r>
            <a:endParaRPr lang="en-US" sz="1100" dirty="0"/>
          </a:p>
        </p:txBody>
      </p:sp>
      <p:sp>
        <p:nvSpPr>
          <p:cNvPr id="11" name="Text 9"/>
          <p:cNvSpPr/>
          <p:nvPr/>
        </p:nvSpPr>
        <p:spPr>
          <a:xfrm>
            <a:off x="4626864" y="2240280"/>
            <a:ext cx="2926080" cy="1783080"/>
          </a:xfrm>
          <a:prstGeom prst="rect">
            <a:avLst/>
          </a:prstGeom>
          <a:noFill/>
          <a:ln/>
        </p:spPr>
        <p:txBody>
          <a:bodyPr wrap="square" lIns="254" tIns="254" rIns="254" bIns="254" rtlCol="0" anchor="ctr">
            <a:normAutofit/>
          </a:bodyPr>
          <a:lstStyle/>
          <a:p>
            <a:pPr marL="177800" indent="-177800">
              <a:buSzPct val="100000"/>
              <a:buChar char="•"/>
            </a:pPr>
            <a:r>
              <a:rPr lang="en-US" sz="1300" dirty="0">
                <a:solidFill>
                  <a:srgbClr val="1D2733"/>
                </a:solidFill>
              </a:rPr>
              <a:t>Refine supplier delivery schedules</a:t>
            </a:r>
            <a:endParaRPr lang="en-US" sz="1300" dirty="0"/>
          </a:p>
          <a:p>
            <a:pPr marL="177800" indent="-177800">
              <a:buSzPct val="100000"/>
              <a:buChar char="•"/>
            </a:pPr>
            <a:r>
              <a:rPr lang="en-US" sz="1300" dirty="0">
                <a:solidFill>
                  <a:srgbClr val="1D2733"/>
                </a:solidFill>
              </a:rPr>
              <a:t>Update safety-stock and order-cycle assumptions</a:t>
            </a:r>
            <a:endParaRPr lang="en-US" sz="1300" dirty="0"/>
          </a:p>
          <a:p>
            <a:pPr marL="177800" indent="-177800">
              <a:buSzPct val="100000"/>
              <a:buChar char="•"/>
            </a:pPr>
            <a:r>
              <a:rPr lang="en-US" sz="1300" dirty="0">
                <a:solidFill>
                  <a:srgbClr val="1D2733"/>
                </a:solidFill>
              </a:rPr>
              <a:t>Prepare compliance documentation</a:t>
            </a:r>
            <a:endParaRPr lang="en-US" sz="1300" dirty="0"/>
          </a:p>
          <a:p>
            <a:pPr marL="177800" indent="-177800">
              <a:buSzPct val="100000"/>
              <a:buChar char="•"/>
            </a:pPr>
            <a:r>
              <a:rPr lang="en-US" sz="1300" dirty="0">
                <a:solidFill>
                  <a:srgbClr val="1D2733"/>
                </a:solidFill>
              </a:rPr>
              <a:t>Launch supplier recovery plans</a:t>
            </a:r>
            <a:endParaRPr lang="en-US" sz="1300" dirty="0"/>
          </a:p>
        </p:txBody>
      </p:sp>
      <p:sp>
        <p:nvSpPr>
          <p:cNvPr id="12" name="Shape 10"/>
          <p:cNvSpPr/>
          <p:nvPr/>
        </p:nvSpPr>
        <p:spPr>
          <a:xfrm>
            <a:off x="8156448" y="1417320"/>
            <a:ext cx="3401568" cy="3063240"/>
          </a:xfrm>
          <a:prstGeom prst="roundRect">
            <a:avLst/>
          </a:prstGeom>
          <a:solidFill>
            <a:srgbClr val="FFFFFF"/>
          </a:solidFill>
          <a:ln w="12700">
            <a:solidFill>
              <a:srgbClr val="D9DEE6"/>
            </a:solidFill>
            <a:prstDash val="solid"/>
          </a:ln>
        </p:spPr>
        <p:txBody>
          <a:bodyPr/>
          <a:lstStyle/>
          <a:p>
            <a:endParaRPr lang="en-US"/>
          </a:p>
        </p:txBody>
      </p:sp>
      <p:sp>
        <p:nvSpPr>
          <p:cNvPr id="13" name="Shape 11"/>
          <p:cNvSpPr/>
          <p:nvPr/>
        </p:nvSpPr>
        <p:spPr>
          <a:xfrm>
            <a:off x="8156448" y="1417320"/>
            <a:ext cx="3401568" cy="530352"/>
          </a:xfrm>
          <a:prstGeom prst="rect">
            <a:avLst/>
          </a:prstGeom>
          <a:solidFill>
            <a:srgbClr val="007C83"/>
          </a:solidFill>
          <a:ln w="12700">
            <a:solidFill>
              <a:srgbClr val="007C83"/>
            </a:solidFill>
            <a:prstDash val="solid"/>
          </a:ln>
        </p:spPr>
        <p:txBody>
          <a:bodyPr/>
          <a:lstStyle/>
          <a:p>
            <a:endParaRPr lang="en-US"/>
          </a:p>
        </p:txBody>
      </p:sp>
      <p:sp>
        <p:nvSpPr>
          <p:cNvPr id="14" name="Text 12"/>
          <p:cNvSpPr/>
          <p:nvPr/>
        </p:nvSpPr>
        <p:spPr>
          <a:xfrm>
            <a:off x="8321040" y="1581912"/>
            <a:ext cx="3072384" cy="201168"/>
          </a:xfrm>
          <a:prstGeom prst="rect">
            <a:avLst/>
          </a:prstGeom>
          <a:noFill/>
          <a:ln/>
        </p:spPr>
        <p:txBody>
          <a:bodyPr wrap="square" lIns="0" tIns="0" rIns="0" bIns="0" rtlCol="0" anchor="ctr"/>
          <a:lstStyle/>
          <a:p>
            <a:pPr marL="0" indent="0" algn="ctr">
              <a:buNone/>
            </a:pPr>
            <a:r>
              <a:rPr lang="en-US" sz="1100" b="1" dirty="0">
                <a:solidFill>
                  <a:srgbClr val="FFFFFF"/>
                </a:solidFill>
              </a:rPr>
              <a:t>LONGER TERM • 1–3 MONTHS</a:t>
            </a:r>
            <a:endParaRPr lang="en-US" sz="1100" dirty="0"/>
          </a:p>
        </p:txBody>
      </p:sp>
      <p:sp>
        <p:nvSpPr>
          <p:cNvPr id="15" name="Text 13"/>
          <p:cNvSpPr/>
          <p:nvPr/>
        </p:nvSpPr>
        <p:spPr>
          <a:xfrm>
            <a:off x="8394192" y="2240280"/>
            <a:ext cx="2926080" cy="1783080"/>
          </a:xfrm>
          <a:prstGeom prst="rect">
            <a:avLst/>
          </a:prstGeom>
          <a:noFill/>
          <a:ln/>
        </p:spPr>
        <p:txBody>
          <a:bodyPr wrap="square" lIns="254" tIns="254" rIns="254" bIns="254" rtlCol="0" anchor="ctr">
            <a:normAutofit/>
          </a:bodyPr>
          <a:lstStyle/>
          <a:p>
            <a:pPr marL="177800" indent="-177800">
              <a:buSzPct val="100000"/>
              <a:buChar char="•"/>
            </a:pPr>
            <a:r>
              <a:rPr lang="en-US" sz="1300" dirty="0">
                <a:solidFill>
                  <a:srgbClr val="1D2733"/>
                </a:solidFill>
              </a:rPr>
              <a:t>Evaluate supplier performance trends</a:t>
            </a:r>
            <a:endParaRPr lang="en-US" sz="1300" dirty="0"/>
          </a:p>
          <a:p>
            <a:pPr marL="177800" indent="-177800">
              <a:buSzPct val="100000"/>
              <a:buChar char="•"/>
            </a:pPr>
            <a:r>
              <a:rPr lang="en-US" sz="1300" dirty="0">
                <a:solidFill>
                  <a:srgbClr val="1D2733"/>
                </a:solidFill>
              </a:rPr>
              <a:t>Deploy stronger monitoring and analytics</a:t>
            </a:r>
            <a:endParaRPr lang="en-US" sz="1300" dirty="0"/>
          </a:p>
          <a:p>
            <a:pPr marL="177800" indent="-177800">
              <a:buSzPct val="100000"/>
              <a:buChar char="•"/>
            </a:pPr>
            <a:r>
              <a:rPr lang="en-US" sz="1300" dirty="0">
                <a:solidFill>
                  <a:srgbClr val="1D2733"/>
                </a:solidFill>
              </a:rPr>
              <a:t>Establish secondary-supplier contingencies</a:t>
            </a:r>
            <a:endParaRPr lang="en-US" sz="1300" dirty="0"/>
          </a:p>
          <a:p>
            <a:pPr marL="177800" indent="-177800">
              <a:buSzPct val="100000"/>
              <a:buChar char="•"/>
            </a:pPr>
            <a:r>
              <a:rPr lang="en-US" sz="1300" dirty="0">
                <a:solidFill>
                  <a:srgbClr val="1D2733"/>
                </a:solidFill>
              </a:rPr>
              <a:t>Verify sustained control and close risks</a:t>
            </a:r>
            <a:endParaRPr lang="en-US" sz="1300" dirty="0"/>
          </a:p>
        </p:txBody>
      </p:sp>
      <p:sp>
        <p:nvSpPr>
          <p:cNvPr id="16" name="Text 14"/>
          <p:cNvSpPr/>
          <p:nvPr/>
        </p:nvSpPr>
        <p:spPr>
          <a:xfrm>
            <a:off x="658368" y="4892040"/>
            <a:ext cx="1828800" cy="274320"/>
          </a:xfrm>
          <a:prstGeom prst="rect">
            <a:avLst/>
          </a:prstGeom>
          <a:noFill/>
          <a:ln/>
        </p:spPr>
        <p:txBody>
          <a:bodyPr wrap="square" lIns="0" tIns="0" rIns="0" bIns="0" rtlCol="0" anchor="ctr"/>
          <a:lstStyle/>
          <a:p>
            <a:pPr marL="0" indent="0">
              <a:buNone/>
            </a:pPr>
            <a:r>
              <a:rPr lang="en-US" sz="1600" b="1" dirty="0">
                <a:solidFill>
                  <a:srgbClr val="0B1F3A"/>
                </a:solidFill>
              </a:rPr>
              <a:t>Management indicators</a:t>
            </a:r>
            <a:endParaRPr lang="en-US" sz="1600" dirty="0"/>
          </a:p>
        </p:txBody>
      </p:sp>
      <p:sp>
        <p:nvSpPr>
          <p:cNvPr id="17" name="Text 15"/>
          <p:cNvSpPr/>
          <p:nvPr/>
        </p:nvSpPr>
        <p:spPr>
          <a:xfrm>
            <a:off x="2331720" y="4828032"/>
            <a:ext cx="1554480" cy="329184"/>
          </a:xfrm>
          <a:prstGeom prst="rect">
            <a:avLst/>
          </a:prstGeom>
          <a:noFill/>
          <a:ln/>
        </p:spPr>
        <p:txBody>
          <a:bodyPr wrap="square" lIns="0" tIns="0" rIns="0" bIns="0" rtlCol="0" anchor="ctr">
            <a:normAutofit/>
          </a:bodyPr>
          <a:lstStyle/>
          <a:p>
            <a:pPr marL="0" indent="0" algn="ctr">
              <a:buNone/>
            </a:pPr>
            <a:r>
              <a:rPr lang="en-US" sz="2100" b="1" dirty="0">
                <a:solidFill>
                  <a:srgbClr val="007C83"/>
                </a:solidFill>
              </a:rPr>
              <a:t>95%</a:t>
            </a:r>
            <a:endParaRPr lang="en-US" sz="2100" dirty="0"/>
          </a:p>
        </p:txBody>
      </p:sp>
      <p:sp>
        <p:nvSpPr>
          <p:cNvPr id="18" name="Text 16"/>
          <p:cNvSpPr/>
          <p:nvPr/>
        </p:nvSpPr>
        <p:spPr>
          <a:xfrm>
            <a:off x="2331720" y="5230368"/>
            <a:ext cx="1554480" cy="384048"/>
          </a:xfrm>
          <a:prstGeom prst="rect">
            <a:avLst/>
          </a:prstGeom>
          <a:noFill/>
          <a:ln/>
        </p:spPr>
        <p:txBody>
          <a:bodyPr wrap="square" lIns="0" tIns="0" rIns="0" bIns="0" rtlCol="0" anchor="ctr">
            <a:normAutofit/>
          </a:bodyPr>
          <a:lstStyle/>
          <a:p>
            <a:pPr marL="0" indent="0" algn="ctr">
              <a:buNone/>
            </a:pPr>
            <a:r>
              <a:rPr lang="en-US" sz="950" dirty="0">
                <a:solidFill>
                  <a:srgbClr val="5B6573"/>
                </a:solidFill>
              </a:rPr>
              <a:t>On-time delivery target</a:t>
            </a:r>
            <a:endParaRPr lang="en-US" sz="950" dirty="0"/>
          </a:p>
        </p:txBody>
      </p:sp>
      <p:sp>
        <p:nvSpPr>
          <p:cNvPr id="19" name="Text 17"/>
          <p:cNvSpPr/>
          <p:nvPr/>
        </p:nvSpPr>
        <p:spPr>
          <a:xfrm>
            <a:off x="4617720" y="4828032"/>
            <a:ext cx="1554480" cy="329184"/>
          </a:xfrm>
          <a:prstGeom prst="rect">
            <a:avLst/>
          </a:prstGeom>
          <a:noFill/>
          <a:ln/>
        </p:spPr>
        <p:txBody>
          <a:bodyPr wrap="square" lIns="0" tIns="0" rIns="0" bIns="0" rtlCol="0" anchor="ctr">
            <a:normAutofit/>
          </a:bodyPr>
          <a:lstStyle/>
          <a:p>
            <a:pPr marL="0" indent="0" algn="ctr">
              <a:buNone/>
            </a:pPr>
            <a:r>
              <a:rPr lang="en-US" sz="2100" b="1" dirty="0">
                <a:solidFill>
                  <a:srgbClr val="C8102E"/>
                </a:solidFill>
              </a:rPr>
              <a:t>&lt;2%</a:t>
            </a:r>
            <a:endParaRPr lang="en-US" sz="2100" dirty="0"/>
          </a:p>
        </p:txBody>
      </p:sp>
      <p:sp>
        <p:nvSpPr>
          <p:cNvPr id="20" name="Text 18"/>
          <p:cNvSpPr/>
          <p:nvPr/>
        </p:nvSpPr>
        <p:spPr>
          <a:xfrm>
            <a:off x="4617720" y="5230368"/>
            <a:ext cx="1554480" cy="384048"/>
          </a:xfrm>
          <a:prstGeom prst="rect">
            <a:avLst/>
          </a:prstGeom>
          <a:noFill/>
          <a:ln/>
        </p:spPr>
        <p:txBody>
          <a:bodyPr wrap="square" lIns="0" tIns="0" rIns="0" bIns="0" rtlCol="0" anchor="ctr">
            <a:normAutofit/>
          </a:bodyPr>
          <a:lstStyle/>
          <a:p>
            <a:pPr marL="0" indent="0" algn="ctr">
              <a:buNone/>
            </a:pPr>
            <a:r>
              <a:rPr lang="en-US" sz="950" dirty="0">
                <a:solidFill>
                  <a:srgbClr val="5B6573"/>
                </a:solidFill>
              </a:rPr>
              <a:t>Defect-rate target</a:t>
            </a:r>
            <a:endParaRPr lang="en-US" sz="950" dirty="0"/>
          </a:p>
        </p:txBody>
      </p:sp>
      <p:sp>
        <p:nvSpPr>
          <p:cNvPr id="21" name="Text 19"/>
          <p:cNvSpPr/>
          <p:nvPr/>
        </p:nvSpPr>
        <p:spPr>
          <a:xfrm>
            <a:off x="6903720" y="4828032"/>
            <a:ext cx="1554480" cy="329184"/>
          </a:xfrm>
          <a:prstGeom prst="rect">
            <a:avLst/>
          </a:prstGeom>
          <a:noFill/>
          <a:ln/>
        </p:spPr>
        <p:txBody>
          <a:bodyPr wrap="square" lIns="0" tIns="0" rIns="0" bIns="0" rtlCol="0" anchor="ctr">
            <a:normAutofit/>
          </a:bodyPr>
          <a:lstStyle/>
          <a:p>
            <a:pPr marL="0" indent="0" algn="ctr">
              <a:buNone/>
            </a:pPr>
            <a:r>
              <a:rPr lang="en-US" sz="2100" b="1" dirty="0">
                <a:solidFill>
                  <a:srgbClr val="007C83"/>
                </a:solidFill>
              </a:rPr>
              <a:t>&lt;10%</a:t>
            </a:r>
            <a:endParaRPr lang="en-US" sz="2100" dirty="0"/>
          </a:p>
        </p:txBody>
      </p:sp>
      <p:sp>
        <p:nvSpPr>
          <p:cNvPr id="22" name="Text 20"/>
          <p:cNvSpPr/>
          <p:nvPr/>
        </p:nvSpPr>
        <p:spPr>
          <a:xfrm>
            <a:off x="6903720" y="5230368"/>
            <a:ext cx="1554480" cy="384048"/>
          </a:xfrm>
          <a:prstGeom prst="rect">
            <a:avLst/>
          </a:prstGeom>
          <a:noFill/>
          <a:ln/>
        </p:spPr>
        <p:txBody>
          <a:bodyPr wrap="square" lIns="0" tIns="0" rIns="0" bIns="0" rtlCol="0" anchor="ctr">
            <a:normAutofit/>
          </a:bodyPr>
          <a:lstStyle/>
          <a:p>
            <a:pPr marL="0" indent="0" algn="ctr">
              <a:buNone/>
            </a:pPr>
            <a:r>
              <a:rPr lang="en-US" sz="950" dirty="0">
                <a:solidFill>
                  <a:srgbClr val="5B6573"/>
                </a:solidFill>
              </a:rPr>
              <a:t>Expedited freight / procurement cost</a:t>
            </a:r>
            <a:endParaRPr lang="en-US" sz="950" dirty="0"/>
          </a:p>
        </p:txBody>
      </p:sp>
      <p:sp>
        <p:nvSpPr>
          <p:cNvPr id="23" name="Text 21"/>
          <p:cNvSpPr/>
          <p:nvPr/>
        </p:nvSpPr>
        <p:spPr>
          <a:xfrm>
            <a:off x="9189720" y="4828032"/>
            <a:ext cx="2331720" cy="329184"/>
          </a:xfrm>
          <a:prstGeom prst="rect">
            <a:avLst/>
          </a:prstGeom>
          <a:noFill/>
          <a:ln/>
        </p:spPr>
        <p:txBody>
          <a:bodyPr wrap="square" lIns="0" tIns="0" rIns="0" bIns="0" rtlCol="0" anchor="ctr">
            <a:normAutofit/>
          </a:bodyPr>
          <a:lstStyle/>
          <a:p>
            <a:pPr marL="0" indent="0" algn="ctr">
              <a:buNone/>
            </a:pPr>
            <a:r>
              <a:rPr lang="en-US" sz="1600" b="1" dirty="0">
                <a:solidFill>
                  <a:srgbClr val="007C83"/>
                </a:solidFill>
              </a:rPr>
              <a:t>Daily • Weekly • Monthly</a:t>
            </a:r>
            <a:endParaRPr lang="en-US" sz="1600" dirty="0"/>
          </a:p>
        </p:txBody>
      </p:sp>
      <p:sp>
        <p:nvSpPr>
          <p:cNvPr id="24" name="Text 22"/>
          <p:cNvSpPr/>
          <p:nvPr/>
        </p:nvSpPr>
        <p:spPr>
          <a:xfrm>
            <a:off x="9189720" y="5230368"/>
            <a:ext cx="2331720" cy="384048"/>
          </a:xfrm>
          <a:prstGeom prst="rect">
            <a:avLst/>
          </a:prstGeom>
          <a:noFill/>
          <a:ln/>
        </p:spPr>
        <p:txBody>
          <a:bodyPr wrap="square" lIns="0" tIns="0" rIns="0" bIns="0" rtlCol="0" anchor="ctr">
            <a:normAutofit/>
          </a:bodyPr>
          <a:lstStyle/>
          <a:p>
            <a:pPr marL="0" indent="0" algn="ctr">
              <a:buNone/>
            </a:pPr>
            <a:r>
              <a:rPr lang="en-US" sz="950" dirty="0">
                <a:solidFill>
                  <a:srgbClr val="5B6573"/>
                </a:solidFill>
              </a:rPr>
              <a:t>Operational, risk and performance cadence</a:t>
            </a:r>
            <a:endParaRPr lang="en-US" sz="950" dirty="0"/>
          </a:p>
        </p:txBody>
      </p:sp>
      <p:sp>
        <p:nvSpPr>
          <p:cNvPr id="25" name="Slide Number Placeholder 0"/>
          <p:cNvSpPr>
            <a:spLocks noGrp="1"/>
          </p:cNvSpPr>
          <p:nvPr>
            <p:ph type="sldNum" sz="quarter" idx="4294967295"/>
          </p:nvPr>
        </p:nvSpPr>
        <p:spPr>
          <a:xfrm>
            <a:off x="11109960" y="6547104"/>
            <a:ext cx="502920" cy="146304"/>
          </a:xfrm>
          <a:prstGeom prst="rect">
            <a:avLst/>
          </a:prstGeom>
          <a:extLst>
            <a:ext uri="{C572A759-6A51-4108-AA02-DFA0A04FC94B}">
              <ma14:wrappingTextBoxFlag xmlns:ma14="http://schemas.microsoft.com/office/mac/drawingml/2011/main" xmlns="" val="0"/>
            </a:ext>
          </a:extLst>
        </p:spPr>
        <p:txBody>
          <a:bodyPr/>
          <a:lstStyle>
            <a:lvl1pPr>
              <a:defRPr sz="800">
                <a:solidFill>
                  <a:srgbClr val="7B8491"/>
                </a:solidFill>
                <a:latin typeface="Aptos"/>
                <a:ea typeface="Aptos"/>
                <a:cs typeface="Aptos"/>
              </a:defRPr>
            </a:lvl1pPr>
          </a:lstStyle>
          <a:p>
            <a:pPr algn="r"/>
            <a:fld id="{F7021451-1387-4CA6-816F-3879F97B5CBC}" type="slidenum">
              <a:rPr lang="en-US" b="0"/>
              <a:t>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3ca48ea3-8c75-4d36-b64f-70604b11fd22}" enabled="1" method="Privileged" siteId="{3ac94b33-9135-4821-9502-eafda6592a35}" removed="0"/>
</clbl:labelList>
</file>

<file path=docProps/app.xml><?xml version="1.0" encoding="utf-8"?>
<Properties xmlns="http://schemas.openxmlformats.org/officeDocument/2006/extended-properties" xmlns:vt="http://schemas.openxmlformats.org/officeDocument/2006/docPropsVTypes">
  <TotalTime>1</TotalTime>
  <Words>1373</Words>
  <Application>Microsoft Office PowerPoint</Application>
  <PresentationFormat>Widescreen</PresentationFormat>
  <Paragraphs>161</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Aptos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Supply Chain Issue Compliance Report</dc:title>
  <dc:subject>Supply Chain Issue Compliance Report</dc:subject>
  <dc:creator>Savasta, Shannon [DPYUS]</dc:creator>
  <cp:lastModifiedBy>Savasta, Shannon [DPYUS]</cp:lastModifiedBy>
  <cp:revision>1</cp:revision>
  <dcterms:created xsi:type="dcterms:W3CDTF">2026-10-17T00:30:15Z</dcterms:created>
  <dcterms:modified xsi:type="dcterms:W3CDTF">2026-10-17T00:40:55Z</dcterms:modified>
</cp:coreProperties>
</file>